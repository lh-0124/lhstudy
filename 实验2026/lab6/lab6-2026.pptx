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1" r:id="rId3"/>
    <p:sldId id="284" r:id="rId4"/>
    <p:sldId id="291" r:id="rId5"/>
    <p:sldId id="28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9" autoAdjust="0"/>
  </p:normalViewPr>
  <p:slideViewPr>
    <p:cSldViewPr snapToGrid="0">
      <p:cViewPr varScale="1">
        <p:scale>
          <a:sx n="113" d="100"/>
          <a:sy n="113" d="100"/>
        </p:scale>
        <p:origin x="16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D309A-CFC9-381D-B555-11F04FCCA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59B6A3-217E-969B-BD8D-11607ADD3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2A3BF-0FFF-4368-9C97-EF7F657B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FD51A-42A4-2981-111F-B3B319FC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E91F8-5CFC-435B-F02A-C0978D16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5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A1E4-B79E-0390-E299-5C69AE6E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5E202-E891-9D71-89DF-E09F310EC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EB02E-29BA-8D4D-6686-4BF16208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CE3EF6-690F-0381-F8C3-CED40014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11BFC-433D-3DE8-6FA4-91F9138A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06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4AD31-5045-5F3E-8943-B923FB55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28C49C-2889-0DF1-D716-0CB7F9002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D55F6-A9BD-4D98-0A9F-AD60050D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BE6BB-4B67-3DBA-9007-A97FF46B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95857-6BAF-FE50-0C8F-E74D2745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37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8379C-519E-6712-307A-B7BE1A4B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E8391-8724-6684-41F0-768EDDDBD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8E0C11-9232-A46B-17FD-5C482A359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A178C0-8C78-122C-5931-E4D41AAC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6D6B49-1EF3-635D-2121-DB8DF557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E5CFC4-003C-3A65-3BCE-273333DB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87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A95E7-64DB-D9D1-5DDD-9D58CA0C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B06761-4B65-56B8-4621-CB51D66F0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5CCB2C-CC0A-5541-B703-EE05F8EF8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9EDDED-B113-D947-3E0D-2127EBE54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575D87-39D5-1265-ED21-3A2F99596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A2A369-20DE-6E45-5187-F5377CEF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D1CE2C-AAE9-392F-78A1-6DEF25DC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F1461F-7273-EC50-BC27-640494E8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61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15FFC-D503-BE54-E0CB-7E7C58D2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7B0FE5-325D-79F8-09F5-C2D898A8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261206-759E-1142-4B3F-D8FD4A10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772C0A-DA6E-5AC0-071F-98A8372F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4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293507-BF8F-93A7-AFA5-6769D56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C28C5B-3F35-082B-2572-45960DEC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F5C1F-C5A8-19AB-A96A-2E523A1A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8A24E-16F3-B5B4-70F6-3CCDF202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30D126-9B5F-394F-462F-348BB5ED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1488AC-F00B-7089-9CE1-7011CF8A6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DBEFB8-F2F0-976B-4245-4EE929078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0B5B8F-360F-6C2F-4FE0-5AC08DAC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236FC8-C550-B445-8E87-6E8B6FC5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36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9B8E3-0A62-BD4F-4340-E1469277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2F7C64-50E4-1AE5-AD03-224CE82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4C2C95-5939-F359-7B78-C750F11DB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26174E-12B3-F048-DEFE-220DADFB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9FF83C-8C82-E328-09ED-011F426D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BBCDC7-FEAF-5EC9-8916-11B4EA0C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7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BC78E-2FAD-881B-3ABC-FCE3F6EF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B4D40F-F9AF-458D-8600-4534B20BB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557760-BE78-DCF7-B554-EBD71515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5A85B-2989-B943-4584-D1FF5A25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7946D-BF18-304E-AC38-11C02200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22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412686-89D6-FC6B-593A-FF555E2E2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30C660-4B36-D66E-CC1D-C12915114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6FADD-58E0-0B81-2AD7-C65AD108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001B3-11BF-97F5-20B5-03CFCC82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67F3D-BD4B-4734-ADB1-A4E66635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289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98847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21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82164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58647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10143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9348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17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8507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5689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42684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9544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C28543-DAE4-9DA8-FE98-28B12B14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DE09D6-27D4-5C7C-6C11-DD33B6776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B35EF-6598-9547-A110-E8C9E03F9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A9ACA-96B6-4AD5-AD1E-436B8085C00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20AC3-2BC7-02E7-90A8-E43E50BEE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4DF07-B789-C459-7EE8-DAD2FC9A1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B9C4C-A380-4B5A-832A-0883760C2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75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>
            <a:extLst>
              <a:ext uri="{FF2B5EF4-FFF2-40B4-BE49-F238E27FC236}">
                <a16:creationId xmlns:a16="http://schemas.microsoft.com/office/drawing/2014/main" id="{46E5620F-478F-45CC-89C6-2D88B132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A5EC652B-F000-0EA2-251F-415C856D49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sp>
        <p:nvSpPr>
          <p:cNvPr id="1028" name="Line 9">
            <a:extLst>
              <a:ext uri="{FF2B5EF4-FFF2-40B4-BE49-F238E27FC236}">
                <a16:creationId xmlns:a16="http://schemas.microsoft.com/office/drawing/2014/main" id="{D148B700-4942-888C-0D11-7D4AE6C87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pic>
        <p:nvPicPr>
          <p:cNvPr id="1029" name="图片 8">
            <a:extLst>
              <a:ext uri="{FF2B5EF4-FFF2-40B4-BE49-F238E27FC236}">
                <a16:creationId xmlns:a16="http://schemas.microsoft.com/office/drawing/2014/main" id="{1636003B-FE6C-0624-0D82-777DE0CF29E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4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1027">
            <a:extLst>
              <a:ext uri="{FF2B5EF4-FFF2-40B4-BE49-F238E27FC236}">
                <a16:creationId xmlns:a16="http://schemas.microsoft.com/office/drawing/2014/main" id="{7756A92C-A21B-F2FD-D0E8-1F5E15866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3487738"/>
            <a:ext cx="5562600" cy="52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02CCD-DBAB-B799-AAE1-90810CC91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Lab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Image Registration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F4D7D57-C612-4C9C-AD7F-E24EB1149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Dan Wu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danwu.bme@zju.edu.cn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29F3-D8A7-2D99-F7E3-FAA375B7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</a:t>
            </a:r>
            <a:r>
              <a:rPr lang="en-US" dirty="0"/>
              <a:t>1</a:t>
            </a:r>
            <a:r>
              <a:rPr lang="en-CN" dirty="0"/>
              <a:t> </a:t>
            </a:r>
            <a:r>
              <a:rPr lang="en-US" dirty="0"/>
              <a:t>Similarity Measure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8E33-7179-F0D1-D310-1458CFC70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5140"/>
            <a:ext cx="8305800" cy="3675974"/>
          </a:xfrm>
        </p:spPr>
        <p:txBody>
          <a:bodyPr/>
          <a:lstStyle/>
          <a:p>
            <a:r>
              <a:rPr lang="en-US" sz="2400" dirty="0"/>
              <a:t>Extract and plot </a:t>
            </a:r>
            <a:r>
              <a:rPr lang="en-US" sz="2400"/>
              <a:t>one </a:t>
            </a:r>
            <a:r>
              <a:rPr lang="en-US" altLang="zh-CN" sz="2400"/>
              <a:t>axial</a:t>
            </a:r>
            <a:r>
              <a:rPr lang="en-US" sz="2400"/>
              <a:t> </a:t>
            </a:r>
            <a:r>
              <a:rPr lang="en-US" sz="2400" dirty="0"/>
              <a:t>slice from two modalities.</a:t>
            </a:r>
          </a:p>
          <a:p>
            <a:pPr lvl="1"/>
            <a:r>
              <a:rPr lang="en-US" sz="2000" dirty="0"/>
              <a:t>Use </a:t>
            </a:r>
            <a:r>
              <a:rPr lang="en-US" sz="2000" i="1" dirty="0" err="1"/>
              <a:t>nibabel</a:t>
            </a:r>
            <a:r>
              <a:rPr lang="en-US" sz="2000" dirty="0"/>
              <a:t> to read .</a:t>
            </a:r>
            <a:r>
              <a:rPr lang="en-US" sz="2000" dirty="0" err="1"/>
              <a:t>nii</a:t>
            </a:r>
            <a:r>
              <a:rPr lang="en-US" sz="2000" dirty="0"/>
              <a:t> file in python</a:t>
            </a:r>
          </a:p>
          <a:p>
            <a:pPr lvl="1"/>
            <a:endParaRPr lang="en-US" sz="2000" dirty="0"/>
          </a:p>
          <a:p>
            <a:r>
              <a:rPr lang="en-US" altLang="zh-CN" sz="2400" dirty="0"/>
              <a:t>Write function for calculating the similarity metrics (SSD, RIU, CC, and MI) </a:t>
            </a:r>
            <a:r>
              <a:rPr lang="en-US" altLang="zh-CN" sz="2400" b="1" dirty="0"/>
              <a:t>manually</a:t>
            </a:r>
            <a:r>
              <a:rPr lang="en-US" altLang="zh-CN" sz="2400" dirty="0"/>
              <a:t> between the two slices, then comparing with standard library (except RIU).</a:t>
            </a:r>
          </a:p>
          <a:p>
            <a:pPr lvl="1"/>
            <a:r>
              <a:rPr lang="en-US" altLang="zh-CN" sz="2000" dirty="0"/>
              <a:t>The mask (can simply use threshold) is needed for all functions</a:t>
            </a:r>
          </a:p>
          <a:p>
            <a:pPr lvl="1"/>
            <a:r>
              <a:rPr lang="en-US" altLang="zh-CN" sz="2000" dirty="0"/>
              <a:t>T1w and the identity</a:t>
            </a:r>
          </a:p>
          <a:p>
            <a:pPr lvl="1"/>
            <a:r>
              <a:rPr lang="en-US" altLang="zh-CN" sz="2000" dirty="0"/>
              <a:t>T1w and T2w</a:t>
            </a:r>
          </a:p>
        </p:txBody>
      </p:sp>
      <p:sp>
        <p:nvSpPr>
          <p:cNvPr id="8" name="矩形 7"/>
          <p:cNvSpPr/>
          <p:nvPr/>
        </p:nvSpPr>
        <p:spPr>
          <a:xfrm>
            <a:off x="10393721" y="3491241"/>
            <a:ext cx="748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T1w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518782" y="5973700"/>
            <a:ext cx="748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T2w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0479C-CFF2-40B1-AD7E-0443F5595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138" y="3952906"/>
            <a:ext cx="1601820" cy="1976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C3CD1-60F7-45A9-B840-E18503123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138" y="1438102"/>
            <a:ext cx="1601820" cy="197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82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C6A1-438F-0A40-E794-CE27014B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C1FA-2798-4262-FDDC-ABFE02F4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</a:t>
            </a:r>
            <a:r>
              <a:rPr lang="en-US" dirty="0"/>
              <a:t>2</a:t>
            </a:r>
            <a:r>
              <a:rPr lang="en-CN" dirty="0"/>
              <a:t> </a:t>
            </a:r>
            <a:r>
              <a:rPr lang="en-US" dirty="0"/>
              <a:t>Image Registration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1325-0C1D-E8F7-581F-CAB5C007B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66" y="1398227"/>
            <a:ext cx="8171634" cy="5354924"/>
          </a:xfrm>
        </p:spPr>
        <p:txBody>
          <a:bodyPr/>
          <a:lstStyle/>
          <a:p>
            <a:r>
              <a:rPr lang="en-US" sz="2400" dirty="0"/>
              <a:t>Apply known rigid transformation (rotation and translation) to the T1w&amp;</a:t>
            </a:r>
            <a:r>
              <a:rPr lang="en-US" altLang="zh-CN" sz="2400" dirty="0"/>
              <a:t>T2w</a:t>
            </a:r>
            <a:r>
              <a:rPr lang="en-US" sz="2400" dirty="0"/>
              <a:t> image.</a:t>
            </a:r>
          </a:p>
          <a:p>
            <a:pPr lvl="1"/>
            <a:r>
              <a:rPr lang="en-US" altLang="zh-CN" sz="2000" dirty="0"/>
              <a:t>Can use library for transformation</a:t>
            </a:r>
            <a:endParaRPr lang="en-US" sz="2000" dirty="0"/>
          </a:p>
          <a:p>
            <a:pPr lvl="1"/>
            <a:r>
              <a:rPr lang="en-US" sz="2000" dirty="0"/>
              <a:t>Demand </a:t>
            </a:r>
            <a:r>
              <a:rPr lang="en-US" altLang="zh-CN" sz="2000" dirty="0"/>
              <a:t>transformation</a:t>
            </a:r>
            <a:r>
              <a:rPr lang="en-US" sz="2000" dirty="0"/>
              <a:t>: </a:t>
            </a:r>
            <a:r>
              <a:rPr lang="en-US" altLang="zh-CN" sz="2000" dirty="0"/>
              <a:t>rotate 15° and shift (10, -5) </a:t>
            </a:r>
            <a:endParaRPr lang="en-US" sz="2400" dirty="0"/>
          </a:p>
          <a:p>
            <a:r>
              <a:rPr lang="en-US" sz="2400" dirty="0"/>
              <a:t>Register the transformed images back to the target T1 image:</a:t>
            </a:r>
          </a:p>
          <a:p>
            <a:pPr lvl="1"/>
            <a:r>
              <a:rPr lang="en-US" altLang="zh-CN" sz="2000" dirty="0"/>
              <a:t>Inter-modality &amp; Intra-modality</a:t>
            </a:r>
          </a:p>
          <a:p>
            <a:pPr lvl="1"/>
            <a:r>
              <a:rPr lang="en-US" altLang="zh-CN" sz="2000" dirty="0"/>
              <a:t>Optimization: use steepest decent method</a:t>
            </a:r>
            <a:endParaRPr lang="en-US" sz="2000" dirty="0"/>
          </a:p>
          <a:p>
            <a:pPr lvl="1"/>
            <a:r>
              <a:rPr lang="en-US" altLang="zh-CN" sz="2000" dirty="0"/>
              <a:t>S</a:t>
            </a:r>
            <a:r>
              <a:rPr lang="en-US" sz="2000" dirty="0"/>
              <a:t>imilarity metrics: functions in Project 1 (except MI and why?)</a:t>
            </a:r>
          </a:p>
          <a:p>
            <a:r>
              <a:rPr lang="en-US" altLang="zh-CN" sz="2400" dirty="0"/>
              <a:t>Compare </a:t>
            </a:r>
            <a:r>
              <a:rPr lang="en-US" sz="2400" dirty="0"/>
              <a:t>the calculated </a:t>
            </a:r>
            <a:r>
              <a:rPr lang="en-US" altLang="zh-CN" sz="2400" dirty="0"/>
              <a:t>transformation </a:t>
            </a:r>
            <a:r>
              <a:rPr lang="en-US" sz="2400" dirty="0"/>
              <a:t>parameters with the one you applied.</a:t>
            </a:r>
          </a:p>
          <a:p>
            <a:pPr lvl="1"/>
            <a:r>
              <a:rPr lang="en-US" sz="2000" dirty="0"/>
              <a:t>Evaluate similarity indices for different task</a:t>
            </a:r>
          </a:p>
          <a:p>
            <a:pPr lvl="1"/>
            <a:r>
              <a:rPr lang="en-US" sz="2000" dirty="0"/>
              <a:t>You can also use overlap of the images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D50638-F228-1587-A0DF-5A80DE390469}"/>
              </a:ext>
            </a:extLst>
          </p:cNvPr>
          <p:cNvSpPr/>
          <p:nvPr/>
        </p:nvSpPr>
        <p:spPr>
          <a:xfrm>
            <a:off x="9009877" y="3491240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T1w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AAD36-8821-6B23-B3CF-A855AFB96B63}"/>
              </a:ext>
            </a:extLst>
          </p:cNvPr>
          <p:cNvSpPr/>
          <p:nvPr/>
        </p:nvSpPr>
        <p:spPr>
          <a:xfrm>
            <a:off x="10766298" y="3491241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T2w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7DFCD5-547F-75AE-ABF7-249EB4D5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300" y="1398227"/>
            <a:ext cx="1511713" cy="21306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E9A4D66-7DAD-C7D1-1C16-A96028977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721" y="1398227"/>
            <a:ext cx="1511713" cy="21306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380B171-EBFE-D5CF-405F-8E7110A68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045" y="4006237"/>
            <a:ext cx="1511713" cy="213063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BAEA60-1F97-3692-6F46-42FAB76A5BDE}"/>
              </a:ext>
            </a:extLst>
          </p:cNvPr>
          <p:cNvSpPr/>
          <p:nvPr/>
        </p:nvSpPr>
        <p:spPr>
          <a:xfrm>
            <a:off x="9298267" y="6136876"/>
            <a:ext cx="17014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Target T1w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E20044-2017-48B6-BFB2-9AF1CE142E9E}"/>
              </a:ext>
            </a:extLst>
          </p:cNvPr>
          <p:cNvSpPr/>
          <p:nvPr/>
        </p:nvSpPr>
        <p:spPr>
          <a:xfrm>
            <a:off x="400411" y="6488668"/>
            <a:ext cx="9867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Bonus: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Try your best to improve the registration effect by using any scientific method</a:t>
            </a:r>
          </a:p>
        </p:txBody>
      </p:sp>
    </p:spTree>
    <p:extLst>
      <p:ext uri="{BB962C8B-B14F-4D97-AF65-F5344CB8AC3E}">
        <p14:creationId xmlns:p14="http://schemas.microsoft.com/office/powerpoint/2010/main" val="286142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DA525F3-F01D-9801-2C7C-F5975694F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786" y="3232619"/>
            <a:ext cx="4231845" cy="217679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0C8724-A7A4-4963-94BA-7BF21A4180B5}"/>
              </a:ext>
            </a:extLst>
          </p:cNvPr>
          <p:cNvSpPr txBox="1">
            <a:spLocks/>
          </p:cNvSpPr>
          <p:nvPr/>
        </p:nvSpPr>
        <p:spPr>
          <a:xfrm>
            <a:off x="762000" y="726141"/>
            <a:ext cx="10972800" cy="7171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Project 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 Tool-based Co-registration</a:t>
            </a:r>
            <a:endParaRPr kumimoji="0" lang="en-C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72EB5D-8B55-4680-B153-79D283370083}"/>
              </a:ext>
            </a:extLst>
          </p:cNvPr>
          <p:cNvSpPr txBox="1">
            <a:spLocks/>
          </p:cNvSpPr>
          <p:nvPr/>
        </p:nvSpPr>
        <p:spPr>
          <a:xfrm>
            <a:off x="277583" y="1989340"/>
            <a:ext cx="7799173" cy="264403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zh-CN" sz="2400" dirty="0"/>
              <a:t>Use standard toolkits (</a:t>
            </a:r>
            <a:r>
              <a:rPr lang="en-US" altLang="zh-CN" sz="2400" dirty="0" err="1"/>
              <a:t>SimpleITK</a:t>
            </a:r>
            <a:r>
              <a:rPr lang="en-US" altLang="zh-CN" sz="2400" dirty="0"/>
              <a:t>) to complete the Project2 tasks</a:t>
            </a:r>
          </a:p>
          <a:p>
            <a:pPr lvl="1"/>
            <a:r>
              <a:rPr lang="en-US" altLang="zh-CN" sz="2000" dirty="0"/>
              <a:t>Inter-modality &amp; Intra-modality</a:t>
            </a:r>
          </a:p>
          <a:p>
            <a:pPr lvl="0">
              <a:defRPr/>
            </a:pPr>
            <a:r>
              <a:rPr lang="en-US" altLang="zh-CN" sz="2400" dirty="0"/>
              <a:t>Try Similarity metrics in Project2</a:t>
            </a:r>
          </a:p>
          <a:p>
            <a:pPr lvl="1">
              <a:defRPr/>
            </a:pPr>
            <a:r>
              <a:rPr lang="en-US" altLang="zh-CN" sz="2000" dirty="0"/>
              <a:t>Compare with SGD method</a:t>
            </a:r>
          </a:p>
        </p:txBody>
      </p:sp>
      <p:pic>
        <p:nvPicPr>
          <p:cNvPr id="1026" name="Picture 2" descr="SimpleITK Tutorial">
            <a:extLst>
              <a:ext uri="{FF2B5EF4-FFF2-40B4-BE49-F238E27FC236}">
                <a16:creationId xmlns:a16="http://schemas.microsoft.com/office/drawing/2014/main" id="{7E488487-41A2-FF3D-944D-6FFDD1503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668" y="2122645"/>
            <a:ext cx="3542079" cy="71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55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236</Words>
  <Application>Microsoft Office PowerPoint</Application>
  <PresentationFormat>宽屏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等线</vt:lpstr>
      <vt:lpstr>等线 Light</vt:lpstr>
      <vt:lpstr>华文中宋</vt:lpstr>
      <vt:lpstr>宋体</vt:lpstr>
      <vt:lpstr>Arial</vt:lpstr>
      <vt:lpstr>Book Antiqua</vt:lpstr>
      <vt:lpstr>Times New Roman</vt:lpstr>
      <vt:lpstr>Verdana</vt:lpstr>
      <vt:lpstr>Office 主题​​</vt:lpstr>
      <vt:lpstr>DIP-2E-book-presentations-template</vt:lpstr>
      <vt:lpstr>Lab 6 - Image Registration</vt:lpstr>
      <vt:lpstr>Project 1 Similarity Measure</vt:lpstr>
      <vt:lpstr>Project 2 Image Registration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6- Image Registration</dc:title>
  <dc:creator>Alder Hyde</dc:creator>
  <cp:lastModifiedBy>Yongquan Huang</cp:lastModifiedBy>
  <cp:revision>37</cp:revision>
  <dcterms:created xsi:type="dcterms:W3CDTF">2025-05-07T07:08:04Z</dcterms:created>
  <dcterms:modified xsi:type="dcterms:W3CDTF">2026-05-19T11:39:15Z</dcterms:modified>
</cp:coreProperties>
</file>