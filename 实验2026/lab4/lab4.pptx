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6"/>
  </p:notesMasterIdLst>
  <p:sldIdLst>
    <p:sldId id="326" r:id="rId2"/>
    <p:sldId id="329" r:id="rId3"/>
    <p:sldId id="327" r:id="rId4"/>
    <p:sldId id="328" r:id="rId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4" id="{876E73FE-A63E-4AC9-8C66-32B90C08F595}">
          <p14:sldIdLst>
            <p14:sldId id="326"/>
            <p14:sldId id="329"/>
            <p14:sldId id="327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990" autoAdjust="0"/>
    <p:restoredTop sz="95574" autoAdjust="0"/>
  </p:normalViewPr>
  <p:slideViewPr>
    <p:cSldViewPr snapToGrid="0" showGuides="1">
      <p:cViewPr varScale="1">
        <p:scale>
          <a:sx n="153" d="100"/>
          <a:sy n="153" d="100"/>
        </p:scale>
        <p:origin x="192" y="282"/>
      </p:cViewPr>
      <p:guideLst>
        <p:guide orient="horz" pos="432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fld id="{3EE5025C-D339-CA44-A36B-8E733135428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73741"/>
            <a:ext cx="10972800" cy="717178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4232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93663" y="55563"/>
            <a:ext cx="35301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b="1" i="1" dirty="0">
                <a:latin typeface="Book Antiqua" panose="02040602050305030304" pitchFamily="18" charset="0"/>
                <a:ea typeface="宋体" panose="02010600030101010101" pitchFamily="2" charset="-122"/>
              </a:rPr>
              <a:t>Biomedical Image Processing</a:t>
            </a:r>
            <a:endParaRPr lang="en-US" altLang="zh-CN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Line 6"/>
          <p:cNvSpPr>
            <a:spLocks noChangeShapeType="1"/>
          </p:cNvSpPr>
          <p:nvPr/>
        </p:nvSpPr>
        <p:spPr bwMode="auto">
          <a:xfrm flipH="1" flipV="1">
            <a:off x="-258763" y="6858000"/>
            <a:ext cx="12450763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Line 9"/>
          <p:cNvSpPr>
            <a:spLocks noChangeShapeType="1"/>
          </p:cNvSpPr>
          <p:nvPr/>
        </p:nvSpPr>
        <p:spPr bwMode="auto">
          <a:xfrm flipH="1">
            <a:off x="93663" y="549275"/>
            <a:ext cx="8321675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9" name="图片 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0" y="23813"/>
            <a:ext cx="368458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 add and estimate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41931"/>
            <a:ext cx="8072673" cy="4742328"/>
          </a:xfrm>
        </p:spPr>
        <p:txBody>
          <a:bodyPr/>
          <a:lstStyle/>
          <a:p>
            <a:pPr>
              <a:buFont typeface="Wingdings" panose="05000000000000000000" charset="0"/>
              <a:buChar char="l"/>
            </a:pPr>
            <a:r>
              <a:rPr lang="en-US" dirty="0"/>
              <a:t>Use the data of lab4-1, the brain MRI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sz="2400" dirty="0"/>
              <a:t>Develop a program to add Gaussian noise to an image. Specify the noise mean and variance</a:t>
            </a:r>
          </a:p>
          <a:p>
            <a:pPr lvl="1"/>
            <a:r>
              <a:rPr lang="en-US" altLang="zh-CN" sz="2400" dirty="0"/>
              <a:t>Add pepper and salt noise to the image with different parameters</a:t>
            </a:r>
            <a:endParaRPr lang="en-US" sz="2400" dirty="0"/>
          </a:p>
          <a:p>
            <a:pPr lvl="1"/>
            <a:r>
              <a:rPr lang="en-US" sz="2400" dirty="0"/>
              <a:t>Estimate the parameters of noise model from the image</a:t>
            </a:r>
          </a:p>
          <a:p>
            <a:pPr lvl="1"/>
            <a:r>
              <a:rPr lang="en-US" altLang="zh-CN" sz="2400" dirty="0"/>
              <a:t>Denoise the image using the estimated noise parameters.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61DC47-09FF-4805-61BC-FA96E6A56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8415733" y="2203722"/>
            <a:ext cx="3514286" cy="2819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C79C-141E-B3B8-A4DA-564172F7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F77E-EE6A-2455-8CA6-B319553B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2 </a:t>
            </a:r>
            <a:r>
              <a:rPr lang="en-US" altLang="zh-CN" dirty="0"/>
              <a:t>morphological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A1053-C2FA-494B-2578-E400A5C1F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752"/>
            <a:ext cx="11314380" cy="1696689"/>
          </a:xfrm>
        </p:spPr>
        <p:txBody>
          <a:bodyPr/>
          <a:lstStyle/>
          <a:p>
            <a:pPr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en-US" altLang="zh-CN" sz="2400" dirty="0"/>
              <a:t>Data</a:t>
            </a:r>
            <a:r>
              <a:rPr lang="en-US" altLang="zh-CN" sz="2000" dirty="0"/>
              <a:t>: </a:t>
            </a:r>
            <a:r>
              <a:rPr lang="en-US" altLang="zh-CN" sz="2400" dirty="0"/>
              <a:t>lab4-2</a:t>
            </a:r>
            <a:br>
              <a:rPr lang="en-US" altLang="zh-CN" sz="2000" dirty="0"/>
            </a:br>
            <a:r>
              <a:rPr lang="en-US" altLang="zh-CN" sz="2000" dirty="0" err="1"/>
              <a:t>noisy_brain_mask.npy</a:t>
            </a:r>
            <a:br>
              <a:rPr lang="en-US" altLang="zh-CN" sz="2000" dirty="0"/>
            </a:br>
            <a:r>
              <a:rPr lang="en-US" altLang="zh-CN" sz="2000" dirty="0" err="1"/>
              <a:t>brain_tissue_mask_slice.npy</a:t>
            </a:r>
            <a:br>
              <a:rPr lang="en-US" altLang="zh-CN" sz="2000" dirty="0"/>
            </a:br>
            <a:r>
              <a:rPr lang="en-US" altLang="zh-CN" sz="2000" dirty="0"/>
              <a:t>original_brain_slice_.</a:t>
            </a:r>
            <a:r>
              <a:rPr lang="en-US" altLang="zh-CN" sz="2000" dirty="0" err="1"/>
              <a:t>npy</a:t>
            </a:r>
            <a:br>
              <a:rPr lang="en-US" altLang="zh-CN" sz="2000" dirty="0"/>
            </a:br>
            <a:r>
              <a:rPr lang="en-US" altLang="zh-CN" sz="2000" dirty="0" err="1"/>
              <a:t>brain_tissue_slice.npy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800" dirty="0"/>
              <a:t>    </a:t>
            </a:r>
            <a:r>
              <a:rPr lang="en-US" altLang="zh-CN" sz="2400" dirty="0"/>
              <a:t>-Apply morphological operations to the </a:t>
            </a:r>
            <a:r>
              <a:rPr lang="en-US" altLang="zh-CN" sz="2400" dirty="0" err="1"/>
              <a:t>noisy_brain_mask.npy</a:t>
            </a:r>
            <a:r>
              <a:rPr lang="en-US" altLang="zh-CN" sz="2400" dirty="0"/>
              <a:t> to denoise,</a:t>
            </a:r>
            <a:r>
              <a:rPr lang="zh-CN" altLang="en-US" sz="2400" dirty="0"/>
              <a:t> </a:t>
            </a:r>
            <a:r>
              <a:rPr lang="en-US" altLang="zh-CN" sz="2400" dirty="0"/>
              <a:t>remove wrong segment boundary and fill partial internal holes.</a:t>
            </a:r>
          </a:p>
          <a:p>
            <a:pPr marL="0" indent="0">
              <a:buNone/>
            </a:pPr>
            <a:r>
              <a:rPr lang="en-US" altLang="zh-CN" sz="2400" dirty="0"/>
              <a:t>    -</a:t>
            </a:r>
            <a:r>
              <a:rPr lang="en-US" altLang="zh-CN" sz="2400" dirty="0" err="1"/>
              <a:t>Compaerd</a:t>
            </a:r>
            <a:r>
              <a:rPr lang="en-US" altLang="zh-CN" sz="2400" dirty="0"/>
              <a:t> with the given brain mask(</a:t>
            </a:r>
            <a:r>
              <a:rPr lang="en-US" altLang="zh-CN" sz="2400" dirty="0" err="1"/>
              <a:t>noisy_brain_mask.npy</a:t>
            </a:r>
            <a:r>
              <a:rPr lang="en-US" altLang="zh-CN" sz="2400" dirty="0"/>
              <a:t> and </a:t>
            </a:r>
            <a:r>
              <a:rPr lang="en-US" altLang="zh-CN" sz="2400" dirty="0" err="1"/>
              <a:t>brain_tissue_mask_slice.npy</a:t>
            </a:r>
            <a:r>
              <a:rPr lang="en-US" altLang="zh-CN" sz="2400" dirty="0"/>
              <a:t>) and check the imperfections.</a:t>
            </a:r>
          </a:p>
        </p:txBody>
      </p:sp>
      <p:pic>
        <p:nvPicPr>
          <p:cNvPr id="4" name="图片 3" descr="屏幕截图 2026-04-18 124149">
            <a:extLst>
              <a:ext uri="{FF2B5EF4-FFF2-40B4-BE49-F238E27FC236}">
                <a16:creationId xmlns:a16="http://schemas.microsoft.com/office/drawing/2014/main" id="{524945FC-E7EA-0DE8-CF29-89CE1DAEF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04" y="4570982"/>
            <a:ext cx="8917782" cy="22870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D01C6EC-E421-EE0F-2C83-6CDE9F788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2439" y="1237290"/>
            <a:ext cx="2646629" cy="182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2 </a:t>
            </a:r>
            <a:r>
              <a:rPr lang="en-US" altLang="zh-CN" dirty="0"/>
              <a:t>morphological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59752"/>
            <a:ext cx="11314380" cy="1696689"/>
          </a:xfrm>
        </p:spPr>
        <p:txBody>
          <a:bodyPr/>
          <a:lstStyle/>
          <a:p>
            <a:pPr>
              <a:spcAft>
                <a:spcPts val="600"/>
              </a:spcAft>
              <a:buFont typeface="Wingdings" panose="05000000000000000000" charset="0"/>
              <a:buChar char="l"/>
            </a:pPr>
            <a:r>
              <a:rPr lang="en-US" altLang="zh-CN" sz="2400" dirty="0"/>
              <a:t>Data</a:t>
            </a:r>
            <a:r>
              <a:rPr lang="en-US" altLang="zh-CN" sz="2000" dirty="0"/>
              <a:t>: </a:t>
            </a:r>
            <a:r>
              <a:rPr lang="en-US" altLang="zh-CN" sz="2400" dirty="0"/>
              <a:t>lab4-2</a:t>
            </a:r>
            <a:br>
              <a:rPr lang="en-US" altLang="zh-CN" sz="2000" dirty="0"/>
            </a:br>
            <a:r>
              <a:rPr lang="en-US" altLang="zh-CN" sz="2000" dirty="0" err="1"/>
              <a:t>noisy_brain_mask.npy</a:t>
            </a:r>
            <a:br>
              <a:rPr lang="en-US" altLang="zh-CN" sz="2000" dirty="0"/>
            </a:br>
            <a:r>
              <a:rPr lang="en-US" altLang="zh-CN" sz="2000" dirty="0" err="1"/>
              <a:t>brain_tissue_mask_slice.npy</a:t>
            </a:r>
            <a:br>
              <a:rPr lang="en-US" altLang="zh-CN" sz="2000" dirty="0"/>
            </a:br>
            <a:r>
              <a:rPr lang="en-US" altLang="zh-CN" sz="2000" dirty="0"/>
              <a:t>original_brain_slice_.</a:t>
            </a:r>
            <a:r>
              <a:rPr lang="en-US" altLang="zh-CN" sz="2000" dirty="0" err="1"/>
              <a:t>npy</a:t>
            </a:r>
            <a:br>
              <a:rPr lang="en-US" altLang="zh-CN" sz="2000" dirty="0"/>
            </a:br>
            <a:r>
              <a:rPr lang="en-US" altLang="zh-CN" sz="2000" dirty="0" err="1"/>
              <a:t>brain_tissue_slice.npy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800" dirty="0"/>
              <a:t>  </a:t>
            </a:r>
            <a:r>
              <a:rPr lang="en-US" altLang="zh-CN" sz="2400" dirty="0"/>
              <a:t>    -Visualize the final brain parenchyma region, comparing the segmentation result with the original image.</a:t>
            </a:r>
          </a:p>
          <a:p>
            <a:pPr marL="685800" lvl="1"/>
            <a:r>
              <a:rPr lang="en-US" altLang="zh-CN" sz="1400" dirty="0"/>
              <a:t>External artifact: Thin skull lines / boundary noise outside the brain parenchyma (false positives) </a:t>
            </a:r>
          </a:p>
          <a:p>
            <a:pPr marL="685800" lvl="1"/>
            <a:r>
              <a:rPr lang="en-US" altLang="zh-CN" sz="1400" dirty="0"/>
              <a:t>Internal structures: Genuine holes inside the brain (e.g., ventricles) that should be preserved (true negatives within the mask) </a:t>
            </a:r>
          </a:p>
          <a:p>
            <a:pPr marL="685800" lvl="1"/>
            <a:r>
              <a:rPr lang="en-US" altLang="zh-CN" sz="1400" dirty="0"/>
              <a:t>The integrity of the brain parenchyma boundary …</a:t>
            </a:r>
          </a:p>
        </p:txBody>
      </p:sp>
      <p:pic>
        <p:nvPicPr>
          <p:cNvPr id="4" name="图片 3" descr="屏幕截图 2026-04-18 1241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04" y="4570982"/>
            <a:ext cx="8917782" cy="22870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4437B76-5ECB-23BF-A4EA-2AE0D2DEF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2439" y="1237290"/>
            <a:ext cx="2646629" cy="1821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3</a:t>
            </a:r>
            <a:r>
              <a:rPr lang="zh-CN" altLang="en-US" dirty="0"/>
              <a:t> </a:t>
            </a:r>
            <a:r>
              <a:rPr lang="en-US" altLang="zh-CN" kern="1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r</a:t>
            </a:r>
            <a:r>
              <a:rPr lang="en-US" altLang="zh-CN" sz="4000" kern="1200" dirty="0">
                <a:solidFill>
                  <a:prstClr val="black"/>
                </a:solidFill>
                <a:latin typeface="Arial" panose="020B0604020202020204"/>
                <a:ea typeface="黑体" panose="02010609060101010101" pitchFamily="49" charset="-122"/>
              </a:rPr>
              <a:t>estoration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61988" y="1428751"/>
                <a:ext cx="7585719" cy="5429249"/>
              </a:xfrm>
            </p:spPr>
            <p:txBody>
              <a:bodyPr/>
              <a:lstStyle/>
              <a:p>
                <a:pPr>
                  <a:buFont typeface="Wingdings" panose="05000000000000000000" charset="0"/>
                  <a:buChar char="l"/>
                </a:pPr>
                <a:r>
                  <a:rPr lang="en-US" sz="2800" dirty="0"/>
                  <a:t>Blurring the image with a Guassian filter</a:t>
                </a:r>
                <a:r>
                  <a:rPr lang="en-US" altLang="zh-CN" sz="2800" dirty="0"/>
                  <a:t> in the 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frequency domain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800" dirty="0"/>
                  <a:t>—Set different D0</a:t>
                </a:r>
                <a:endParaRPr lang="en-US" sz="2800" dirty="0"/>
              </a:p>
              <a:p>
                <a:pPr>
                  <a:buFont typeface="Wingdings" panose="05000000000000000000" charset="0"/>
                  <a:buChar char="l"/>
                </a:pPr>
                <a:r>
                  <a:rPr lang="en-US" sz="2800" dirty="0"/>
                  <a:t>Add 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Rician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noise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Open Sans" panose="020B0606030504020204" pitchFamily="34" charset="0"/>
                      </a:rPr>
                      <m:t>f</m:t>
                    </m:r>
                    <m:d>
                      <m:dPr>
                        <m:sepChr m:val="∣"/>
                        <m:ctrlPr>
                          <a:rPr lang="zh-CN" altLang="zh-CN" sz="1600" i="1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80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Open Sans" panose="020B0606030504020204" pitchFamily="34" charset="0"/>
                          </a:rPr>
                          <m:t>x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altLang="zh-CN" sz="180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Open Sans" panose="020B0606030504020204" pitchFamily="34" charset="0"/>
                          </a:rPr>
                          <m:t>ν</m:t>
                        </m:r>
                        <m:r>
                          <a:rPr lang="en-US" altLang="zh-CN" sz="180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80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Open Sans" panose="020B0606030504020204" pitchFamily="34" charset="0"/>
                          </a:rPr>
                          <m:t>σ</m:t>
                        </m:r>
                      </m:e>
                    </m:d>
                    <m:r>
                      <a:rPr lang="en-US" altLang="zh-CN" sz="180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Open Sans" panose="020B0606030504020204" pitchFamily="34" charset="0"/>
                      </a:rPr>
                      <m:t>=</m:t>
                    </m:r>
                    <m:f>
                      <m:fPr>
                        <m:ctrlPr>
                          <a:rPr lang="zh-CN" altLang="zh-CN" sz="1600" i="1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80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Open Sans" panose="020B0606030504020204" pitchFamily="34" charset="0"/>
                          </a:rPr>
                          <m:t>x</m:t>
                        </m:r>
                      </m:num>
                      <m:den>
                        <m:sSup>
                          <m:sSupPr>
                            <m:ctrlPr>
                              <a:rPr lang="zh-CN" altLang="zh-CN" sz="1600" i="1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80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Open Sans" panose="020B0606030504020204" pitchFamily="34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zh-CN" sz="180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Open Sans" panose="020B060603050402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zh-CN" altLang="zh-CN" sz="1600" i="1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80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Open Sans" panose="020B0606030504020204" pitchFamily="34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zh-CN" altLang="zh-CN" sz="1600" i="1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Open Sans" panose="020B0606030504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sz="1600" i="1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 panose="020B0606030504020204" pitchFamily="34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zh-CN" sz="1600" i="1">
                                        <a:solidFill>
                                          <a:srgbClr val="33333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>
                                        <a:solidFill>
                                          <a:srgbClr val="33333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Open Sans" panose="020B0606030504020204" pitchFamily="34" charset="0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en-US" altLang="zh-CN" sz="1800">
                                        <a:solidFill>
                                          <a:srgbClr val="33333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Open Sans" panose="020B060603050402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800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Open Sans" panose="020B060603050402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sz="1600" i="1">
                                        <a:solidFill>
                                          <a:srgbClr val="33333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>
                                        <a:solidFill>
                                          <a:srgbClr val="33333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Open Sans" panose="020B0606030504020204" pitchFamily="34" charset="0"/>
                                      </a:rPr>
                                      <m:t>ν</m:t>
                                    </m:r>
                                  </m:e>
                                  <m:sup>
                                    <m:r>
                                      <a:rPr lang="en-US" altLang="zh-CN" sz="1800">
                                        <a:solidFill>
                                          <a:srgbClr val="33333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Open Sans" panose="020B060603050402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1800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Open Sans" panose="020B0606030504020204" pitchFamily="34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zh-CN" altLang="zh-CN" sz="1600" i="1">
                                        <a:solidFill>
                                          <a:srgbClr val="33333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 panose="020B0606030504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>
                                        <a:solidFill>
                                          <a:srgbClr val="33333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Open Sans" panose="020B0606030504020204" pitchFamily="34" charset="0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altLang="zh-CN" sz="1800">
                                        <a:solidFill>
                                          <a:srgbClr val="333333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Open Sans" panose="020B060603050402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sSub>
                      <m:sSubPr>
                        <m:ctrlPr>
                          <a:rPr lang="zh-CN" altLang="zh-CN" sz="1600" i="1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Open Sans" panose="020B0606030504020204" pitchFamily="34" charset="0"/>
                          </a:rPr>
                          <m:t>I</m:t>
                        </m:r>
                      </m:e>
                      <m:sub>
                        <m:r>
                          <a:rPr lang="en-US" altLang="zh-CN" sz="1800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Open Sans" panose="020B0606030504020204" pitchFamily="34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zh-CN" altLang="zh-CN" sz="1600" i="1">
                            <a:solidFill>
                              <a:srgbClr val="333333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1600" i="1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Open Sans" panose="020B060603050402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1800">
                                <a:solidFill>
                                  <a:srgbClr val="333333"/>
                                </a:solidFill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Open Sans" panose="020B0606030504020204" pitchFamily="34" charset="0"/>
                              </a:rPr>
                              <m:t>xν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zh-CN" sz="1600" i="1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 panose="020B0606030504020204" pitchFamily="34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800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Open Sans" panose="020B0606030504020204" pitchFamily="34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altLang="zh-CN" sz="1800">
                                    <a:solidFill>
                                      <a:srgbClr val="333333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Open Sans" panose="020B0606030504020204" pitchFamily="34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zh-CN" altLang="zh-CN" sz="1600" dirty="0">
                    <a:effectLst/>
                  </a:rPr>
                  <a:t> </a:t>
                </a:r>
                <a:endParaRPr lang="en-US" sz="2800" b="1" dirty="0">
                  <a:solidFill>
                    <a:srgbClr val="FF0000"/>
                  </a:solidFill>
                </a:endParaRPr>
              </a:p>
              <a:p>
                <a:pPr>
                  <a:buFont typeface="Wingdings" panose="05000000000000000000" charset="0"/>
                  <a:buChar char="l"/>
                </a:pPr>
                <a:r>
                  <a:rPr lang="en-US" sz="2000" dirty="0"/>
                  <a:t>Suppose the blurring kernel is known, restore the image with the following method</a:t>
                </a:r>
              </a:p>
              <a:p>
                <a:pPr lvl="1"/>
                <a:r>
                  <a:rPr lang="en-US" sz="2000" dirty="0"/>
                  <a:t>Inverse filter</a:t>
                </a:r>
              </a:p>
              <a:p>
                <a:pPr lvl="1"/>
                <a:r>
                  <a:rPr lang="en-US" sz="2000" dirty="0"/>
                  <a:t>Limited inverse filter</a:t>
                </a:r>
              </a:p>
              <a:p>
                <a:pPr lvl="1"/>
                <a:r>
                  <a:rPr lang="en-US" sz="2000" dirty="0"/>
                  <a:t>Wiener filter </a:t>
                </a:r>
              </a:p>
              <a:p>
                <a:pPr>
                  <a:buFont typeface="Wingdings" panose="05000000000000000000" pitchFamily="2" charset="2"/>
                  <a:buChar char="n"/>
                </a:pPr>
                <a:r>
                  <a:rPr lang="en-US" altLang="zh-CN" sz="2800" dirty="0"/>
                  <a:t>Questions:</a:t>
                </a:r>
              </a:p>
              <a:p>
                <a:pPr>
                  <a:buFont typeface="Wingdings" panose="05000000000000000000" charset="0"/>
                  <a:buChar char="l"/>
                </a:pPr>
                <a:r>
                  <a:rPr lang="en-US" altLang="zh-CN" sz="1600" dirty="0"/>
                  <a:t>How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to</a:t>
                </a:r>
                <a:r>
                  <a:rPr lang="zh-CN" altLang="en-US" sz="1600" dirty="0"/>
                  <a:t> </a:t>
                </a:r>
                <a:r>
                  <a:rPr lang="en-US" altLang="zh-CN" sz="1600" dirty="0"/>
                  <a:t>evaluate</a:t>
                </a:r>
                <a:r>
                  <a:rPr lang="zh-CN" altLang="en-US" sz="1600" dirty="0"/>
                  <a:t> </a:t>
                </a:r>
                <a:r>
                  <a:rPr lang="en-GB" altLang="zh-CN" sz="1600" dirty="0"/>
                  <a:t>restored </a:t>
                </a:r>
                <a:r>
                  <a:rPr lang="en-US" altLang="zh-CN" sz="1600" dirty="0"/>
                  <a:t>image quality?</a:t>
                </a:r>
                <a:endParaRPr lang="en-US" sz="1600" dirty="0"/>
              </a:p>
              <a:p>
                <a:pPr>
                  <a:buFont typeface="Wingdings" panose="05000000000000000000" charset="0"/>
                  <a:buChar char="l"/>
                </a:pPr>
                <a:r>
                  <a:rPr lang="en-US" sz="1600" dirty="0"/>
                  <a:t>What if the blurring kernel is unknown?</a:t>
                </a:r>
              </a:p>
              <a:p>
                <a:pPr>
                  <a:buFont typeface="Wingdings" panose="05000000000000000000" charset="0"/>
                  <a:buChar char="l"/>
                </a:pPr>
                <a:r>
                  <a:rPr lang="en-US" sz="1600" dirty="0"/>
                  <a:t>Use NLM (Non-Local Means) method to denoise Rician noise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1988" y="1428751"/>
                <a:ext cx="7585719" cy="5429249"/>
              </a:xfrm>
              <a:blipFill>
                <a:blip r:embed="rId2"/>
                <a:stretch>
                  <a:fillRect l="-1447" t="-1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8769348" y="1266806"/>
                <a:ext cx="3017173" cy="712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kern="100" smtClean="0">
                          <a:solidFill>
                            <a:srgbClr val="1A2029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Menlo" panose="020B0609030804020204" pitchFamily="49" charset="0"/>
                        </a:rPr>
                        <m:t>real</m:t>
                      </m:r>
                      <m:r>
                        <a:rPr lang="en-US" altLang="zh-CN" sz="1200" kern="100" smtClean="0">
                          <a:solidFill>
                            <a:srgbClr val="1A2029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Menlo" panose="020B0609030804020204" pitchFamily="49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200" kern="100" smtClean="0">
                          <a:solidFill>
                            <a:srgbClr val="1A2029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Menlo" panose="020B0609030804020204" pitchFamily="49" charset="0"/>
                        </a:rPr>
                        <m:t>ν</m:t>
                      </m:r>
                      <m:r>
                        <a:rPr lang="en-US" altLang="zh-CN" sz="1200" kern="100" smtClean="0">
                          <a:solidFill>
                            <a:srgbClr val="1A2029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Menlo" panose="020B0609030804020204" pitchFamily="49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1200" i="1" kern="100">
                              <a:solidFill>
                                <a:srgbClr val="1A2029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enlo" panose="020B0609030804020204" pitchFamily="49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kern="100">
                              <a:solidFill>
                                <a:srgbClr val="1A2029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Menlo" panose="020B0609030804020204" pitchFamily="49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200" kern="100">
                              <a:solidFill>
                                <a:srgbClr val="1A2029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Menlo" panose="020B0609030804020204" pitchFamily="49" charset="0"/>
                            </a:rPr>
                            <m:t>real</m:t>
                          </m:r>
                        </m:sub>
                      </m:sSub>
                      <m:r>
                        <a:rPr lang="en-US" altLang="zh-CN" sz="1200" kern="100">
                          <a:solidFill>
                            <a:srgbClr val="1A2029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Menlo" panose="020B0609030804020204" pitchFamily="49" charset="0"/>
                        </a:rPr>
                        <m:t>, </m:t>
                      </m:r>
                      <m:r>
                        <m:rPr>
                          <m:sty m:val="p"/>
                        </m:rPr>
                        <a:rPr lang="en-US" altLang="zh-CN" sz="1200" kern="100">
                          <a:solidFill>
                            <a:srgbClr val="1A2029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Menlo" panose="020B0609030804020204" pitchFamily="49" charset="0"/>
                        </a:rPr>
                        <m:t>imaginary</m:t>
                      </m:r>
                      <m:r>
                        <a:rPr lang="en-US" altLang="zh-CN" sz="1200" kern="100">
                          <a:solidFill>
                            <a:srgbClr val="1A2029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Menlo" panose="020B0609030804020204" pitchFamily="49" charset="0"/>
                        </a:rPr>
                        <m:t>=0+</m:t>
                      </m:r>
                      <m:sSub>
                        <m:sSubPr>
                          <m:ctrlPr>
                            <a:rPr lang="zh-CN" altLang="zh-CN" sz="1200" i="1" kern="100">
                              <a:solidFill>
                                <a:srgbClr val="1A2029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Menlo" panose="020B0609030804020204" pitchFamily="49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kern="100">
                              <a:solidFill>
                                <a:srgbClr val="1A2029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Menlo" panose="020B0609030804020204" pitchFamily="49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200" kern="100">
                              <a:solidFill>
                                <a:srgbClr val="1A2029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Menlo" panose="020B0609030804020204" pitchFamily="49" charset="0"/>
                            </a:rPr>
                            <m:t>imag</m:t>
                          </m:r>
                        </m:sub>
                      </m:sSub>
                    </m:oMath>
                  </m:oMathPara>
                </a14:m>
                <a:endParaRPr lang="en-US" altLang="zh-CN" sz="1200" kern="100" dirty="0">
                  <a:solidFill>
                    <a:srgbClr val="1A2029"/>
                  </a:solidFill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Menlo" panose="020B0609030804020204" pitchFamily="49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2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Menlo" panose="020B0609030804020204" pitchFamily="49" charset="0"/>
                      </a:rPr>
                      <m:t>𝑥</m:t>
                    </m:r>
                    <m:r>
                      <a:rPr lang="en-US" altLang="zh-CN" sz="1200" i="1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Menlo" panose="020B0609030804020204" pitchFamily="49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sz="1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enlo" panose="020B0609030804020204" pitchFamily="49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zh-CN" sz="12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Menlo" panose="020B0609030804020204" pitchFamily="49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12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Menlo" panose="020B0609030804020204" pitchFamily="49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Menlo" panose="020B0609030804020204" pitchFamily="49" charset="0"/>
                                  </a:rPr>
                                  <m:t>ν</m:t>
                                </m:r>
                                <m:r>
                                  <a:rPr lang="en-US" altLang="zh-CN" sz="1200" i="1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Menlo" panose="020B0609030804020204" pitchFamily="49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zh-CN" sz="12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Menlo" panose="020B06090308040202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2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Menlo" panose="020B0609030804020204" pitchFamily="49" charset="0"/>
                                      </a:rPr>
                                      <m:t>ϵ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altLang="zh-CN" sz="120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Menlo" panose="020B0609030804020204" pitchFamily="49" charset="0"/>
                                      </a:rPr>
                                      <m:t>real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12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Menlo" panose="020B0609030804020204" pitchFamily="49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1200" i="1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Menlo" panose="020B0609030804020204" pitchFamily="49" charset="0"/>
                          </a:rPr>
                          <m:t>+</m:t>
                        </m:r>
                        <m:sSubSup>
                          <m:sSubSupPr>
                            <m:ctrlPr>
                              <a:rPr lang="zh-CN" altLang="zh-CN" sz="12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Menlo" panose="020B0609030804020204" pitchFamily="49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Menlo" panose="020B0609030804020204" pitchFamily="49" charset="0"/>
                              </a:rPr>
                              <m:t>ϵ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CN" sz="12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Menlo" panose="020B0609030804020204" pitchFamily="49" charset="0"/>
                              </a:rPr>
                              <m:t>imag</m:t>
                            </m:r>
                          </m:sub>
                          <m:sup>
                            <m:r>
                              <a:rPr lang="en-US" altLang="zh-CN" sz="1200" i="1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Menlo" panose="020B0609030804020204" pitchFamily="49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zh-CN" altLang="zh-CN" sz="1200" dirty="0">
                    <a:effectLst/>
                  </a:rPr>
                  <a:t> </a:t>
                </a:r>
                <a:endParaRPr lang="zh-CN" altLang="zh-CN" sz="12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348" y="1266806"/>
                <a:ext cx="3017173" cy="7121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圆角矩形 11"/>
          <p:cNvSpPr/>
          <p:nvPr/>
        </p:nvSpPr>
        <p:spPr bwMode="auto">
          <a:xfrm>
            <a:off x="8834005" y="1248060"/>
            <a:ext cx="3017173" cy="712118"/>
          </a:xfrm>
          <a:prstGeom prst="round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63991" y="801812"/>
            <a:ext cx="2266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Rician</a:t>
            </a:r>
            <a:r>
              <a:rPr lang="zh-CN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noise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3771C6-3942-538F-2881-62A7A42E3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172" y="2117240"/>
            <a:ext cx="4034828" cy="16139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50A2B39-B35A-9E48-CE1E-FEC5D2B04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172" y="3680655"/>
            <a:ext cx="4034823" cy="16139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CA72575-FBB1-D7B1-6EBF-360262B9E6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7580" y="5244069"/>
            <a:ext cx="4034827" cy="16139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P-2E-book-presentations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660066"/>
      </a:hlink>
      <a:folHlink>
        <a:srgbClr val="B2B2B2"/>
      </a:folHlink>
    </a:clrScheme>
    <a:fontScheme name="DIP-2E-book-presentations-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DIP-2E-book-presentation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P-2E-book-presentations-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Office\Templates\DIP-2E-book-presentations-template.pot</Template>
  <TotalTime>233</TotalTime>
  <Words>365</Words>
  <Application>Microsoft Office PowerPoint</Application>
  <PresentationFormat>宽屏</PresentationFormat>
  <Paragraphs>31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Arial</vt:lpstr>
      <vt:lpstr>Book Antiqua</vt:lpstr>
      <vt:lpstr>Cambria Math</vt:lpstr>
      <vt:lpstr>Times New Roman</vt:lpstr>
      <vt:lpstr>Verdana</vt:lpstr>
      <vt:lpstr>Wingdings</vt:lpstr>
      <vt:lpstr>DIP-2E-book-presentations-template</vt:lpstr>
      <vt:lpstr>Project 1 add and estimate noise</vt:lpstr>
      <vt:lpstr>Project 2 morphological operations</vt:lpstr>
      <vt:lpstr>Project 2 morphological operations</vt:lpstr>
      <vt:lpstr>Project 3 restoration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dhl</dc:creator>
  <cp:lastModifiedBy>Zhenyu Zhang</cp:lastModifiedBy>
  <cp:revision>169</cp:revision>
  <dcterms:created xsi:type="dcterms:W3CDTF">2001-12-06T17:51:00Z</dcterms:created>
  <dcterms:modified xsi:type="dcterms:W3CDTF">2026-04-21T06:36:42Z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C87397C0531141D383919E87BE7C38B9_13</vt:lpwstr>
  </property>
  <property fmtid="{D5CDD505-2E9C-101B-9397-08002B2CF9AE}" pid="3" name="KSOProductBuildVer">
    <vt:lpwstr>2052-12.1.0.23542</vt:lpwstr>
  </property>
</Properties>
</file>