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6"/>
  </p:notesMasterIdLst>
  <p:sldIdLst>
    <p:sldId id="281" r:id="rId2"/>
    <p:sldId id="282" r:id="rId3"/>
    <p:sldId id="290" r:id="rId4"/>
    <p:sldId id="291" r:id="rId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9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22" autoAdjust="0"/>
    <p:restoredTop sz="95578" autoAdjust="0"/>
  </p:normalViewPr>
  <p:slideViewPr>
    <p:cSldViewPr snapToGrid="0">
      <p:cViewPr>
        <p:scale>
          <a:sx n="66" d="100"/>
          <a:sy n="66" d="100"/>
        </p:scale>
        <p:origin x="1949" y="1166"/>
      </p:cViewPr>
      <p:guideLst>
        <p:guide orient="horz" pos="429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52432D8-6310-40E4-9689-1294CC2511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F383599-A2F8-4E1F-BB26-8715EB0F34F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650A7EE-C83E-94DF-1B8D-53BA1A5333D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6402BF12-75A7-408F-89D6-09E8FBC718C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34BFED21-C4B4-444F-8444-5E39BE57510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DBFD0366-0BEE-4C59-9DEF-4CD2D7AC2F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fld id="{3EE5025C-D339-CA44-A36B-8E7331354280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642670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573741"/>
            <a:ext cx="10972800" cy="717178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4232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5743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11538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86352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3790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14749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0019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38467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08472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87416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83274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4">
            <a:extLst>
              <a:ext uri="{FF2B5EF4-FFF2-40B4-BE49-F238E27FC236}">
                <a16:creationId xmlns:a16="http://schemas.microsoft.com/office/drawing/2014/main" id="{46E5620F-478F-45CC-89C6-2D88B132D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3" y="55563"/>
            <a:ext cx="35301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defRPr/>
            </a:pPr>
            <a:r>
              <a:rPr lang="en-US" altLang="zh-CN" sz="2000" b="1" i="1" dirty="0">
                <a:latin typeface="Book Antiqua" panose="02040602050305030304" pitchFamily="18" charset="0"/>
                <a:ea typeface="宋体" panose="02010600030101010101" pitchFamily="2" charset="-122"/>
              </a:rPr>
              <a:t>Biomedical Image Processing</a:t>
            </a:r>
            <a:endParaRPr lang="en-US" altLang="zh-CN" b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Line 6">
            <a:extLst>
              <a:ext uri="{FF2B5EF4-FFF2-40B4-BE49-F238E27FC236}">
                <a16:creationId xmlns:a16="http://schemas.microsoft.com/office/drawing/2014/main" id="{A5EC652B-F000-0EA2-251F-415C856D493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-258763" y="6858000"/>
            <a:ext cx="12450763" cy="0"/>
          </a:xfrm>
          <a:prstGeom prst="line">
            <a:avLst/>
          </a:prstGeom>
          <a:noFill/>
          <a:ln w="3175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N"/>
          </a:p>
        </p:txBody>
      </p:sp>
      <p:sp>
        <p:nvSpPr>
          <p:cNvPr id="1028" name="Line 9">
            <a:extLst>
              <a:ext uri="{FF2B5EF4-FFF2-40B4-BE49-F238E27FC236}">
                <a16:creationId xmlns:a16="http://schemas.microsoft.com/office/drawing/2014/main" id="{D148B700-4942-888C-0D11-7D4AE6C877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3663" y="549275"/>
            <a:ext cx="8321675" cy="0"/>
          </a:xfrm>
          <a:prstGeom prst="line">
            <a:avLst/>
          </a:prstGeom>
          <a:noFill/>
          <a:ln w="3175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N"/>
          </a:p>
        </p:txBody>
      </p:sp>
      <p:pic>
        <p:nvPicPr>
          <p:cNvPr id="1029" name="图片 8">
            <a:extLst>
              <a:ext uri="{FF2B5EF4-FFF2-40B4-BE49-F238E27FC236}">
                <a16:creationId xmlns:a16="http://schemas.microsoft.com/office/drawing/2014/main" id="{1636003B-FE6C-0624-0D82-777DE0CF29E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500" y="23813"/>
            <a:ext cx="3684588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02CCD-DBAB-B799-AAE1-90810CC91F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392644"/>
            <a:ext cx="10363200" cy="915333"/>
          </a:xfrm>
        </p:spPr>
        <p:txBody>
          <a:bodyPr/>
          <a:lstStyle/>
          <a:p>
            <a:r>
              <a:rPr lang="en-CN" sz="4000" dirty="0">
                <a:latin typeface="Arial" panose="020B0604020202020204" pitchFamily="34" charset="0"/>
                <a:cs typeface="Arial" panose="020B0604020202020204" pitchFamily="34" charset="0"/>
              </a:rPr>
              <a:t>Lab 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3 -</a:t>
            </a:r>
            <a:r>
              <a:rPr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 Spatial Filter and Fourier Transform</a:t>
            </a:r>
            <a:endParaRPr lang="en-CN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13B181-DE97-4A7C-8279-D7D88C7BF90C}"/>
              </a:ext>
            </a:extLst>
          </p:cNvPr>
          <p:cNvSpPr txBox="1"/>
          <p:nvPr/>
        </p:nvSpPr>
        <p:spPr>
          <a:xfrm>
            <a:off x="4713452" y="3678367"/>
            <a:ext cx="30780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Requirements</a:t>
            </a:r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algn="ctr"/>
            <a:r>
              <a:rPr lang="en-US" altLang="zh-CN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matrix operator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9E8EE-7CCC-0313-DA42-4998DBB0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Project </a:t>
            </a:r>
            <a:r>
              <a:rPr lang="en-US" dirty="0"/>
              <a:t>1</a:t>
            </a:r>
            <a:r>
              <a:rPr lang="en-CN" dirty="0"/>
              <a:t> </a:t>
            </a:r>
            <a:r>
              <a:rPr lang="en-US" altLang="zh-CN" dirty="0"/>
              <a:t>Ringing Effect</a:t>
            </a:r>
            <a:endParaRPr lang="en-C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C477FAD3-AD52-4C32-B0A7-557B995100E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5441" y="1718984"/>
                <a:ext cx="7975600" cy="4565275"/>
              </a:xfrm>
            </p:spPr>
            <p:txBody>
              <a:bodyPr/>
              <a:lstStyle/>
              <a:p>
                <a:r>
                  <a:rPr lang="en-US" altLang="zh-CN" sz="2400" dirty="0"/>
                  <a:t>Use the brain MRI data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altLang="zh-CN" sz="2400" dirty="0"/>
                  <a:t>Write code to i</a:t>
                </a:r>
                <a:r>
                  <a:rPr lang="en-CN" sz="2400" dirty="0"/>
                  <a:t>mplement </a:t>
                </a:r>
                <a:r>
                  <a:rPr lang="en-US" sz="2400" dirty="0"/>
                  <a:t>lowpass</a:t>
                </a:r>
                <a:r>
                  <a:rPr lang="en-CN" sz="2400" dirty="0"/>
                  <a:t> filter</a:t>
                </a:r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r>
                  <a:rPr lang="en-US" sz="2400" dirty="0"/>
                  <a:t>)</a:t>
                </a:r>
                <a:endParaRPr lang="en-CN" sz="2400" dirty="0"/>
              </a:p>
              <a:p>
                <a:pPr lvl="2"/>
                <a:r>
                  <a:rPr lang="en-US" altLang="zh-CN" dirty="0"/>
                  <a:t>Ideal Low-pass</a:t>
                </a:r>
              </a:p>
              <a:p>
                <a:pPr lvl="2"/>
                <a:r>
                  <a:rPr lang="en-US" altLang="zh-CN" dirty="0"/>
                  <a:t>Butterworth with n=6</a:t>
                </a:r>
              </a:p>
              <a:p>
                <a:pPr lvl="2"/>
                <a:r>
                  <a:rPr lang="en-US" altLang="zh-CN" dirty="0"/>
                  <a:t>Gaussian</a:t>
                </a:r>
              </a:p>
              <a:p>
                <a:pPr lvl="2"/>
                <a:endParaRPr lang="en-US" sz="2400" dirty="0"/>
              </a:p>
              <a:p>
                <a:pPr lvl="1"/>
                <a:r>
                  <a:rPr lang="en-US" sz="2400" dirty="0"/>
                  <a:t>Point out the ringing effect and explain the cause</a:t>
                </a:r>
              </a:p>
            </p:txBody>
          </p:sp>
        </mc:Choice>
        <mc:Fallback xmlns="">
          <p:sp>
            <p:nvSpPr>
              <p:cNvPr id="9" name="Content Placeholder 2">
                <a:extLst>
                  <a:ext uri="{FF2B5EF4-FFF2-40B4-BE49-F238E27FC236}">
                    <a16:creationId xmlns:a16="http://schemas.microsoft.com/office/drawing/2014/main" id="{C477FAD3-AD52-4C32-B0A7-557B995100E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5441" y="1718984"/>
                <a:ext cx="7975600" cy="4565275"/>
              </a:xfrm>
              <a:blipFill>
                <a:blip r:embed="rId2"/>
                <a:stretch>
                  <a:fillRect l="-1070" t="-9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>
            <a:extLst>
              <a:ext uri="{FF2B5EF4-FFF2-40B4-BE49-F238E27FC236}">
                <a16:creationId xmlns:a16="http://schemas.microsoft.com/office/drawing/2014/main" id="{0871AB85-9101-4924-9898-EB7F1AB89C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1" y="1808325"/>
            <a:ext cx="3589331" cy="3566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925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C2DDB-156D-CDF5-45B5-455CB3F37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2: </a:t>
            </a:r>
            <a:r>
              <a:rPr lang="en-US" altLang="zh-CN" dirty="0"/>
              <a:t>Identical filter</a:t>
            </a:r>
            <a:endParaRPr lang="en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50BE1A9-6D85-32DD-9B6D-FF81FF304F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921" y="2142407"/>
            <a:ext cx="3413760" cy="3413760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4B99520-5E2A-47D3-BDD0-D875BD7D5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1600201"/>
            <a:ext cx="7034784" cy="5096434"/>
          </a:xfrm>
        </p:spPr>
        <p:txBody>
          <a:bodyPr/>
          <a:lstStyle/>
          <a:p>
            <a:r>
              <a:rPr lang="en-US" altLang="zh-CN" sz="2400" dirty="0"/>
              <a:t>Use the brain MRI data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I</a:t>
            </a:r>
            <a:r>
              <a:rPr lang="en-CN" sz="2400" dirty="0"/>
              <a:t>mplement a spatial filter</a:t>
            </a:r>
          </a:p>
          <a:p>
            <a:pPr lvl="2"/>
            <a:r>
              <a:rPr lang="en-US" dirty="0"/>
              <a:t>Low pass Gaussian(Sigma can be 1, 3, 5)</a:t>
            </a:r>
          </a:p>
          <a:p>
            <a:pPr lvl="2"/>
            <a:r>
              <a:rPr lang="en-US" dirty="0"/>
              <a:t>Corresponding high pass Gaussian</a:t>
            </a:r>
          </a:p>
          <a:p>
            <a:pPr lvl="1"/>
            <a:r>
              <a:rPr lang="en-US" altLang="zh-CN" sz="2400" dirty="0"/>
              <a:t>Apply frequency filter</a:t>
            </a:r>
          </a:p>
          <a:p>
            <a:pPr lvl="2"/>
            <a:r>
              <a:rPr lang="en-US" altLang="zh-CN" sz="2000" dirty="0"/>
              <a:t>Filter based on Spatial Kernel FFT</a:t>
            </a:r>
          </a:p>
          <a:p>
            <a:pPr lvl="1"/>
            <a:r>
              <a:rPr lang="en-US" sz="2400" dirty="0"/>
              <a:t>Implement a Laplacian high pass  filter</a:t>
            </a:r>
          </a:p>
          <a:p>
            <a:pPr lvl="2"/>
            <a:r>
              <a:rPr lang="en-US" sz="2000" dirty="0"/>
              <a:t>3*3 with 4 and 8 neighbor</a:t>
            </a:r>
          </a:p>
          <a:p>
            <a:pPr lvl="1"/>
            <a:r>
              <a:rPr lang="en-US" sz="2400" dirty="0"/>
              <a:t>Analysis and discuss differences between</a:t>
            </a:r>
          </a:p>
          <a:p>
            <a:pPr lvl="2"/>
            <a:r>
              <a:rPr lang="en-US" dirty="0"/>
              <a:t>Frequency and spatial filters</a:t>
            </a:r>
          </a:p>
          <a:p>
            <a:pPr lvl="2"/>
            <a:r>
              <a:rPr lang="en-US" dirty="0"/>
              <a:t>Gaussian high pass and Laplacian filter</a:t>
            </a:r>
          </a:p>
        </p:txBody>
      </p:sp>
    </p:spTree>
    <p:extLst>
      <p:ext uri="{BB962C8B-B14F-4D97-AF65-F5344CB8AC3E}">
        <p14:creationId xmlns:p14="http://schemas.microsoft.com/office/powerpoint/2010/main" val="3595111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9E8EE-7CCC-0313-DA42-4998DBB04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Project </a:t>
            </a:r>
            <a:r>
              <a:rPr lang="en-US" dirty="0"/>
              <a:t>3</a:t>
            </a:r>
            <a:r>
              <a:rPr lang="en-CN" dirty="0"/>
              <a:t> </a:t>
            </a:r>
            <a:r>
              <a:rPr lang="en-US" altLang="zh-CN" dirty="0"/>
              <a:t>Notch filter</a:t>
            </a:r>
            <a:endParaRPr lang="en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94CE318-7FDB-45BF-A968-4C77D2BDC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9837" y="1843576"/>
            <a:ext cx="3175443" cy="3170848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A29FAF4-61A8-4AA4-B320-FFFD2A49F330}"/>
              </a:ext>
            </a:extLst>
          </p:cNvPr>
          <p:cNvSpPr txBox="1">
            <a:spLocks/>
          </p:cNvSpPr>
          <p:nvPr/>
        </p:nvSpPr>
        <p:spPr>
          <a:xfrm>
            <a:off x="345441" y="1718984"/>
            <a:ext cx="7975600" cy="456527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altLang="zh-CN" sz="2400" kern="0" dirty="0"/>
              <a:t>Use the noised brain MRI data</a:t>
            </a:r>
          </a:p>
          <a:p>
            <a:pPr lvl="1">
              <a:lnSpc>
                <a:spcPct val="150000"/>
              </a:lnSpc>
            </a:pPr>
            <a:r>
              <a:rPr lang="en-US" altLang="zh-CN" sz="2400" kern="0" dirty="0"/>
              <a:t>Write code to i</a:t>
            </a:r>
            <a:r>
              <a:rPr lang="en-CN" sz="2400" kern="0" dirty="0"/>
              <a:t>mplement </a:t>
            </a:r>
            <a:r>
              <a:rPr lang="en-US" sz="2400" kern="0" dirty="0"/>
              <a:t>n</a:t>
            </a:r>
            <a:r>
              <a:rPr lang="en-US" altLang="zh-CN" sz="2400" dirty="0"/>
              <a:t>otch filter to remove the noise.</a:t>
            </a:r>
            <a:endParaRPr lang="en-US" kern="0" dirty="0"/>
          </a:p>
        </p:txBody>
      </p:sp>
    </p:spTree>
    <p:extLst>
      <p:ext uri="{BB962C8B-B14F-4D97-AF65-F5344CB8AC3E}">
        <p14:creationId xmlns:p14="http://schemas.microsoft.com/office/powerpoint/2010/main" val="2162578330"/>
      </p:ext>
    </p:extLst>
  </p:cSld>
  <p:clrMapOvr>
    <a:masterClrMapping/>
  </p:clrMapOvr>
</p:sld>
</file>

<file path=ppt/theme/theme1.xml><?xml version="1.0" encoding="utf-8"?>
<a:theme xmlns:a="http://schemas.openxmlformats.org/drawingml/2006/main" name="DIP-2E-book-presentations-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660066"/>
      </a:hlink>
      <a:folHlink>
        <a:srgbClr val="B2B2B2"/>
      </a:folHlink>
    </a:clrScheme>
    <a:fontScheme name="DIP-2E-book-presentations-templat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华文中宋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华文中宋" pitchFamily="2" charset="-122"/>
          </a:defRPr>
        </a:defPPr>
      </a:lstStyle>
    </a:lnDef>
  </a:objectDefaults>
  <a:extraClrSchemeLst>
    <a:extraClrScheme>
      <a:clrScheme name="DIP-2E-book-presentations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P-2E-book-presentations-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Office\Templates\DIP-2E-book-presentations-template.pot</Template>
  <TotalTime>3411</TotalTime>
  <Words>141</Words>
  <Application>Microsoft Office PowerPoint</Application>
  <PresentationFormat>宽屏</PresentationFormat>
  <Paragraphs>26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华文中宋</vt:lpstr>
      <vt:lpstr>宋体</vt:lpstr>
      <vt:lpstr>Arial</vt:lpstr>
      <vt:lpstr>Book Antiqua</vt:lpstr>
      <vt:lpstr>Cambria Math</vt:lpstr>
      <vt:lpstr>Times New Roman</vt:lpstr>
      <vt:lpstr>Verdana</vt:lpstr>
      <vt:lpstr>DIP-2E-book-presentations-template</vt:lpstr>
      <vt:lpstr>Lab 3 - Spatial Filter and Fourier Transform</vt:lpstr>
      <vt:lpstr>Project 1 Ringing Effect</vt:lpstr>
      <vt:lpstr>Project 2: Identical filter</vt:lpstr>
      <vt:lpstr>Project 3 Notch filter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dhl</dc:creator>
  <cp:lastModifiedBy>Yongquan Huang</cp:lastModifiedBy>
  <cp:revision>168</cp:revision>
  <dcterms:created xsi:type="dcterms:W3CDTF">2001-12-06T17:51:11Z</dcterms:created>
  <dcterms:modified xsi:type="dcterms:W3CDTF">2026-04-07T03:41:10Z</dcterms:modified>
</cp:coreProperties>
</file>