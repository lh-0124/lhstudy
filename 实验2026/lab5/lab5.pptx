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5"/>
  </p:notesMasterIdLst>
  <p:sldIdLst>
    <p:sldId id="338" r:id="rId2"/>
    <p:sldId id="330" r:id="rId3"/>
    <p:sldId id="331" r:id="rId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5" id="{D4E3FD1C-6047-418F-B14A-FD61E69991FD}">
          <p14:sldIdLst>
            <p14:sldId id="338"/>
            <p14:sldId id="330"/>
            <p14:sldId id="3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9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990" autoAdjust="0"/>
    <p:restoredTop sz="95574" autoAdjust="0"/>
  </p:normalViewPr>
  <p:slideViewPr>
    <p:cSldViewPr snapToGrid="0" showGuides="1">
      <p:cViewPr varScale="1">
        <p:scale>
          <a:sx n="147" d="100"/>
          <a:sy n="147" d="100"/>
        </p:scale>
        <p:origin x="114" y="390"/>
      </p:cViewPr>
      <p:guideLst>
        <p:guide orient="horz" pos="429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fld id="{3EE5025C-D339-CA44-A36B-8E733135428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5025C-D339-CA44-A36B-8E733135428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73741"/>
            <a:ext cx="10972800" cy="717178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4232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93663" y="55563"/>
            <a:ext cx="35301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b="1" i="1" dirty="0">
                <a:latin typeface="Book Antiqua" panose="02040602050305030304" pitchFamily="18" charset="0"/>
                <a:ea typeface="宋体" panose="02010600030101010101" pitchFamily="2" charset="-122"/>
              </a:rPr>
              <a:t>Biomedical Image Processing</a:t>
            </a:r>
            <a:endParaRPr lang="en-US" altLang="zh-CN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Line 6"/>
          <p:cNvSpPr>
            <a:spLocks noChangeShapeType="1"/>
          </p:cNvSpPr>
          <p:nvPr/>
        </p:nvSpPr>
        <p:spPr bwMode="auto">
          <a:xfrm flipH="1" flipV="1">
            <a:off x="-258763" y="6858000"/>
            <a:ext cx="12450763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Line 9"/>
          <p:cNvSpPr>
            <a:spLocks noChangeShapeType="1"/>
          </p:cNvSpPr>
          <p:nvPr/>
        </p:nvSpPr>
        <p:spPr bwMode="auto">
          <a:xfrm flipH="1">
            <a:off x="93663" y="549275"/>
            <a:ext cx="8321675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9" name="图片 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0" y="23813"/>
            <a:ext cx="3684588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1 Edge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00201"/>
            <a:ext cx="9093927" cy="4742328"/>
          </a:xfrm>
        </p:spPr>
        <p:txBody>
          <a:bodyPr/>
          <a:lstStyle/>
          <a:p>
            <a:r>
              <a:rPr lang="en-US" sz="2400" dirty="0"/>
              <a:t>Use the data of lab5, 2 modes of the brain MRI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Implement</a:t>
            </a:r>
            <a:r>
              <a:rPr lang="en-US" dirty="0"/>
              <a:t> the Sobel gradient kernel and get a binary mask with a specified threshold T.</a:t>
            </a:r>
          </a:p>
          <a:p>
            <a:pPr lvl="1"/>
            <a:r>
              <a:rPr lang="en-US" dirty="0"/>
              <a:t>Segment the lesion (</a:t>
            </a:r>
            <a:r>
              <a:rPr lang="en-US" dirty="0">
                <a:solidFill>
                  <a:srgbClr val="FF0000"/>
                </a:solidFill>
              </a:rPr>
              <a:t>red arrow</a:t>
            </a:r>
            <a:r>
              <a:rPr lang="en-US" dirty="0"/>
              <a:t>)</a:t>
            </a:r>
            <a:r>
              <a:rPr lang="en-US" altLang="zh-CN" dirty="0"/>
              <a:t>: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sz="1800" dirty="0"/>
              <a:t>5x5 smooth filter + Sobel filter + </a:t>
            </a:r>
            <a:r>
              <a:rPr lang="en-US" altLang="zh-CN" sz="1800" dirty="0"/>
              <a:t>threshold T </a:t>
            </a:r>
            <a:r>
              <a:rPr lang="en-US" altLang="zh-CN" sz="1800" dirty="0">
                <a:sym typeface="Wingdings" panose="05000000000000000000" pitchFamily="2" charset="2"/>
              </a:rPr>
              <a:t> edge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1800" dirty="0"/>
              <a:t>Remove brain edge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1800" dirty="0"/>
              <a:t>C</a:t>
            </a:r>
            <a:r>
              <a:rPr lang="en-US" sz="1800" dirty="0"/>
              <a:t>losed operatio</a:t>
            </a:r>
            <a:r>
              <a:rPr lang="en-US" altLang="zh-CN" sz="1800" dirty="0"/>
              <a:t>n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sz="1800" dirty="0"/>
              <a:t>Connected domain processing</a:t>
            </a:r>
          </a:p>
          <a:p>
            <a:pPr marL="400050"/>
            <a:r>
              <a:rPr lang="en-US" altLang="zh-CN" dirty="0"/>
              <a:t>Discuss</a:t>
            </a:r>
          </a:p>
          <a:p>
            <a:pPr marL="800100" lvl="1"/>
            <a:r>
              <a:rPr lang="en-US" altLang="zh-CN" sz="2000" dirty="0"/>
              <a:t>Compare the effects of the 2 modes</a:t>
            </a:r>
          </a:p>
          <a:p>
            <a:pPr marL="57150" indent="0">
              <a:buNone/>
            </a:pPr>
            <a:endParaRPr lang="en-US" dirty="0"/>
          </a:p>
        </p:txBody>
      </p:sp>
      <p:sp>
        <p:nvSpPr>
          <p:cNvPr id="11" name="矩形 10"/>
          <p:cNvSpPr/>
          <p:nvPr/>
        </p:nvSpPr>
        <p:spPr>
          <a:xfrm>
            <a:off x="8976557" y="1400906"/>
            <a:ext cx="513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T1: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39734" y="3852732"/>
            <a:ext cx="513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T2: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860" y="1779905"/>
            <a:ext cx="2015490" cy="2061845"/>
          </a:xfrm>
          <a:prstGeom prst="rect">
            <a:avLst/>
          </a:prstGeom>
        </p:spPr>
      </p:pic>
      <p:cxnSp>
        <p:nvCxnSpPr>
          <p:cNvPr id="8" name="Straight Arrow Connector 4"/>
          <p:cNvCxnSpPr/>
          <p:nvPr/>
        </p:nvCxnSpPr>
        <p:spPr bwMode="auto">
          <a:xfrm>
            <a:off x="9724476" y="2246082"/>
            <a:ext cx="195943" cy="2721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860" y="4354830"/>
            <a:ext cx="2015490" cy="1915160"/>
          </a:xfrm>
          <a:prstGeom prst="rect">
            <a:avLst/>
          </a:prstGeom>
        </p:spPr>
      </p:pic>
      <p:cxnSp>
        <p:nvCxnSpPr>
          <p:cNvPr id="15" name="Straight Arrow Connector 4"/>
          <p:cNvCxnSpPr/>
          <p:nvPr/>
        </p:nvCxnSpPr>
        <p:spPr bwMode="auto">
          <a:xfrm>
            <a:off x="9644535" y="4698987"/>
            <a:ext cx="195943" cy="2721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2 Thresholding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75575"/>
            <a:ext cx="7130432" cy="394501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</a:rPr>
              <a:t>Implement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GB" altLang="zh-CN" sz="2800" b="1" dirty="0"/>
              <a:t>Iterative</a:t>
            </a:r>
            <a:r>
              <a:rPr lang="en-GB" altLang="zh-CN" sz="2800" dirty="0"/>
              <a:t> global threshold segmentation</a:t>
            </a:r>
          </a:p>
          <a:p>
            <a:pPr lvl="1"/>
            <a:r>
              <a:rPr lang="en-GB" sz="2400" dirty="0"/>
              <a:t>Test different initial T values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Implement </a:t>
            </a:r>
            <a:r>
              <a:rPr lang="en-US" sz="2800" dirty="0"/>
              <a:t>Otsu's optimum thresholding algorithm to segment the lesion (Not call the library)</a:t>
            </a:r>
          </a:p>
          <a:p>
            <a:pPr lvl="1"/>
            <a:r>
              <a:rPr lang="en-US" sz="2400" dirty="0"/>
              <a:t>Test and compare the results on the brain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1" name="矩形 10"/>
          <p:cNvSpPr/>
          <p:nvPr/>
        </p:nvSpPr>
        <p:spPr>
          <a:xfrm>
            <a:off x="8976557" y="1400906"/>
            <a:ext cx="513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T1: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39734" y="3852732"/>
            <a:ext cx="513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T2: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860" y="1779905"/>
            <a:ext cx="2015490" cy="2061845"/>
          </a:xfrm>
          <a:prstGeom prst="rect">
            <a:avLst/>
          </a:prstGeom>
        </p:spPr>
      </p:pic>
      <p:cxnSp>
        <p:nvCxnSpPr>
          <p:cNvPr id="8" name="Straight Arrow Connector 4"/>
          <p:cNvCxnSpPr/>
          <p:nvPr/>
        </p:nvCxnSpPr>
        <p:spPr bwMode="auto">
          <a:xfrm>
            <a:off x="9724476" y="2246082"/>
            <a:ext cx="195943" cy="2721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860" y="4231640"/>
            <a:ext cx="2015490" cy="2038350"/>
          </a:xfrm>
          <a:prstGeom prst="rect">
            <a:avLst/>
          </a:prstGeom>
        </p:spPr>
      </p:pic>
      <p:cxnSp>
        <p:nvCxnSpPr>
          <p:cNvPr id="15" name="Straight Arrow Connector 4"/>
          <p:cNvCxnSpPr/>
          <p:nvPr/>
        </p:nvCxnSpPr>
        <p:spPr bwMode="auto">
          <a:xfrm>
            <a:off x="9644535" y="4698987"/>
            <a:ext cx="195943" cy="2721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3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773" y="1603659"/>
            <a:ext cx="8618706" cy="38887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/>
              <a:t>• Use the T2w data</a:t>
            </a:r>
          </a:p>
          <a:p>
            <a:pPr marL="0" indent="0">
              <a:buNone/>
            </a:pPr>
            <a:r>
              <a:rPr lang="en-US" altLang="zh-CN" sz="2800" dirty="0"/>
              <a:t>• </a:t>
            </a:r>
            <a:r>
              <a:rPr lang="en-US" altLang="zh-CN" sz="2800" dirty="0">
                <a:solidFill>
                  <a:srgbClr val="FF0000"/>
                </a:solidFill>
              </a:rPr>
              <a:t>Call</a:t>
            </a:r>
            <a:r>
              <a:rPr lang="en-US" altLang="zh-CN" sz="2800" dirty="0"/>
              <a:t> Region Growing, K-mean Cluster, and Watershed Segmentation functions</a:t>
            </a:r>
          </a:p>
          <a:p>
            <a:pPr marL="0" indent="0">
              <a:buNone/>
            </a:pPr>
            <a:r>
              <a:rPr lang="en-US" altLang="zh-CN" sz="2800" dirty="0"/>
              <a:t>• </a:t>
            </a:r>
            <a:r>
              <a:rPr lang="en-US" altLang="zh-CN" sz="2800" dirty="0">
                <a:solidFill>
                  <a:srgbClr val="FF0000"/>
                </a:solidFill>
              </a:rPr>
              <a:t>Implement</a:t>
            </a:r>
            <a:r>
              <a:rPr lang="en-US" altLang="zh-CN" sz="2800" dirty="0"/>
              <a:t> improved K-mean clustering</a:t>
            </a:r>
          </a:p>
          <a:p>
            <a:pPr marL="400050" lvl="1" indent="0">
              <a:buNone/>
            </a:pPr>
            <a:r>
              <a:rPr lang="en-US" altLang="zh-CN" sz="1800" dirty="0"/>
              <a:t>– Adjust the number of clusters K and spatial coordinate (x,y) weighting to independently segment the lesion region</a:t>
            </a:r>
          </a:p>
          <a:p>
            <a:pPr marL="400050" lvl="1" indent="0">
              <a:buNone/>
            </a:pPr>
            <a:r>
              <a:rPr lang="en-US" altLang="zh-CN" sz="1800" dirty="0"/>
              <a:t>– Test different combinations of K and spatial weight to obtain optimal lesion segmentation</a:t>
            </a:r>
          </a:p>
          <a:p>
            <a:pPr marL="400050" lvl="1" indent="0">
              <a:buNone/>
            </a:pPr>
            <a:r>
              <a:rPr lang="en-US" altLang="zh-CN" sz="1800" dirty="0"/>
              <a:t>– Compare the segmentation results between standard K-mean and spatial-weighted K-mean</a:t>
            </a:r>
          </a:p>
          <a:p>
            <a:pPr marL="0" indent="0">
              <a:buNone/>
            </a:pPr>
            <a:r>
              <a:rPr lang="en-US" altLang="zh-CN" sz="2800" dirty="0"/>
              <a:t>• Segment the lesion and calculate its volume</a:t>
            </a:r>
          </a:p>
          <a:p>
            <a:pPr marL="0" indent="0">
              <a:buNone/>
            </a:pPr>
            <a:r>
              <a:rPr lang="en-US" altLang="zh-CN" sz="2800" dirty="0"/>
              <a:t>Suppose the image resolution is (x, y)=(1 mm, 1 mm)</a:t>
            </a:r>
          </a:p>
        </p:txBody>
      </p:sp>
      <p:sp>
        <p:nvSpPr>
          <p:cNvPr id="13" name="矩形 12"/>
          <p:cNvSpPr/>
          <p:nvPr/>
        </p:nvSpPr>
        <p:spPr>
          <a:xfrm>
            <a:off x="9155939" y="2201732"/>
            <a:ext cx="513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T2: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6065" y="2703830"/>
            <a:ext cx="2015490" cy="1915160"/>
          </a:xfrm>
          <a:prstGeom prst="rect">
            <a:avLst/>
          </a:prstGeom>
        </p:spPr>
      </p:pic>
      <p:cxnSp>
        <p:nvCxnSpPr>
          <p:cNvPr id="18" name="Straight Arrow Connector 4"/>
          <p:cNvCxnSpPr/>
          <p:nvPr/>
        </p:nvCxnSpPr>
        <p:spPr bwMode="auto">
          <a:xfrm>
            <a:off x="9760740" y="3047987"/>
            <a:ext cx="195943" cy="2721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DIP-2E-book-presentations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660066"/>
      </a:hlink>
      <a:folHlink>
        <a:srgbClr val="B2B2B2"/>
      </a:folHlink>
    </a:clrScheme>
    <a:fontScheme name="DIP-2E-book-presentations-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DIP-2E-book-presentation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P-2E-book-presentations-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Office\Templates\DIP-2E-book-presentations-template.pot</Template>
  <TotalTime>195</TotalTime>
  <Words>209</Words>
  <Application>Microsoft Office PowerPoint</Application>
  <PresentationFormat>宽屏</PresentationFormat>
  <Paragraphs>30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Arial</vt:lpstr>
      <vt:lpstr>Book Antiqua</vt:lpstr>
      <vt:lpstr>Times New Roman</vt:lpstr>
      <vt:lpstr>Verdana</vt:lpstr>
      <vt:lpstr>Wingdings</vt:lpstr>
      <vt:lpstr>DIP-2E-book-presentations-template</vt:lpstr>
      <vt:lpstr>Project 1 Edge Detection</vt:lpstr>
      <vt:lpstr>Project 2 Thresholding</vt:lpstr>
      <vt:lpstr>Project 3 Segmentation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dhl</dc:creator>
  <cp:lastModifiedBy>Zhenyu Zhang</cp:lastModifiedBy>
  <cp:revision>165</cp:revision>
  <dcterms:created xsi:type="dcterms:W3CDTF">2001-12-06T17:51:00Z</dcterms:created>
  <dcterms:modified xsi:type="dcterms:W3CDTF">2026-05-06T06:25:45Z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C87397C0531141D383919E87BE7C38B9_13</vt:lpwstr>
  </property>
  <property fmtid="{D5CDD505-2E9C-101B-9397-08002B2CF9AE}" pid="3" name="KSOProductBuildVer">
    <vt:lpwstr>2052-12.1.0.23542</vt:lpwstr>
  </property>
</Properties>
</file>