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5"/>
  </p:notesMasterIdLst>
  <p:sldIdLst>
    <p:sldId id="338" r:id="rId2"/>
    <p:sldId id="330" r:id="rId3"/>
    <p:sldId id="331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" id="{D4E3FD1C-6047-418F-B14A-FD61E69991FD}">
          <p14:sldIdLst>
            <p14:sldId id="338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990" autoAdjust="0"/>
    <p:restoredTop sz="95574" autoAdjust="0"/>
  </p:normalViewPr>
  <p:slideViewPr>
    <p:cSldViewPr snapToGrid="0" showGuides="1">
      <p:cViewPr varScale="1">
        <p:scale>
          <a:sx n="147" d="100"/>
          <a:sy n="147" d="100"/>
        </p:scale>
        <p:origin x="114" y="390"/>
      </p:cViewPr>
      <p:guideLst>
        <p:guide orient="horz" pos="429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3EE5025C-D339-CA44-A36B-8E733135428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5025C-D339-CA44-A36B-8E733135428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73741"/>
            <a:ext cx="10972800" cy="717178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4232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93663" y="55563"/>
            <a:ext cx="35301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latin typeface="Book Antiqua" panose="02040602050305030304" pitchFamily="18" charset="0"/>
                <a:ea typeface="宋体" panose="02010600030101010101" pitchFamily="2" charset="-122"/>
              </a:rPr>
              <a:t>Biomedical Image Processing</a:t>
            </a:r>
            <a:endParaRPr lang="en-US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6"/>
          <p:cNvSpPr>
            <a:spLocks noChangeShapeType="1"/>
          </p:cNvSpPr>
          <p:nvPr/>
        </p:nvSpPr>
        <p:spPr bwMode="auto">
          <a:xfrm flipH="1" flipV="1">
            <a:off x="-258763" y="6858000"/>
            <a:ext cx="124507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Line 9"/>
          <p:cNvSpPr>
            <a:spLocks noChangeShapeType="1"/>
          </p:cNvSpPr>
          <p:nvPr/>
        </p:nvSpPr>
        <p:spPr bwMode="auto">
          <a:xfrm flipH="1">
            <a:off x="93663" y="549275"/>
            <a:ext cx="8321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9" name="图片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0" y="23813"/>
            <a:ext cx="36845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379"/>
            <a:ext cx="10972800" cy="717178"/>
          </a:xfrm>
        </p:spPr>
        <p:txBody>
          <a:bodyPr/>
          <a:lstStyle/>
          <a:p>
            <a:r>
              <a:rPr lang="en-US" dirty="0"/>
              <a:t>Project 1 </a:t>
            </a:r>
            <a:r>
              <a:rPr lang="en-US" altLang="zh-CN" dirty="0"/>
              <a:t>Shape Feature &amp; Fourier Descriptors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69467"/>
            <a:ext cx="8151780" cy="3944565"/>
          </a:xfrm>
        </p:spPr>
        <p:txBody>
          <a:bodyPr/>
          <a:lstStyle/>
          <a:p>
            <a:r>
              <a:rPr lang="en-US" sz="2800" dirty="0"/>
              <a:t>Use the data of lab7, real brain tumor MRI data.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Implement</a:t>
            </a:r>
            <a:r>
              <a:rPr lang="en-US" sz="2400" dirty="0"/>
              <a:t> the </a:t>
            </a:r>
            <a:r>
              <a:rPr lang="en-US" altLang="zh-CN" sz="2400" dirty="0"/>
              <a:t>Fourier Descriptors extraction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Gradually increase the </a:t>
            </a:r>
            <a:r>
              <a:rPr lang="zh-CN" altLang="zh-CN" sz="2400" b="1" i="1" dirty="0">
                <a:ea typeface="Google Sans Text"/>
              </a:rPr>
              <a:t>P</a:t>
            </a:r>
            <a:r>
              <a:rPr lang="en-US" sz="2400" dirty="0"/>
              <a:t> value and observe the changes.</a:t>
            </a:r>
          </a:p>
          <a:p>
            <a:pPr lvl="1"/>
            <a:endParaRPr lang="en-US" sz="1800" dirty="0"/>
          </a:p>
          <a:p>
            <a:pPr marL="400050"/>
            <a:r>
              <a:rPr lang="en-US" altLang="zh-CN" dirty="0"/>
              <a:t>Discuss</a:t>
            </a:r>
          </a:p>
          <a:p>
            <a:pPr marL="800100" lvl="1"/>
            <a:r>
              <a:rPr lang="en-US" altLang="zh-CN" sz="2400" dirty="0"/>
              <a:t>The </a:t>
            </a:r>
            <a:r>
              <a:rPr lang="zh-CN" altLang="zh-CN" sz="2400" dirty="0"/>
              <a:t>relationship between the number of descriptors </a:t>
            </a:r>
            <a:r>
              <a:rPr lang="zh-CN" altLang="zh-CN" sz="2400" b="1" i="1" dirty="0">
                <a:ea typeface="Google Sans Text"/>
              </a:rPr>
              <a:t>P</a:t>
            </a:r>
            <a:r>
              <a:rPr lang="zh-CN" altLang="zh-CN" sz="2400" dirty="0"/>
              <a:t> and shape fidelity.</a:t>
            </a:r>
          </a:p>
          <a:p>
            <a:pPr marL="800100" lvl="1"/>
            <a:endParaRPr lang="en-US" altLang="zh-CN" sz="2000" dirty="0"/>
          </a:p>
          <a:p>
            <a:pPr marL="57150" indent="0">
              <a:buNone/>
            </a:pPr>
            <a:endParaRPr 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D463524-0688-39ED-C6E0-EC93A860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380" y="2091085"/>
            <a:ext cx="3197548" cy="3190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71018"/>
            <a:ext cx="10972800" cy="717178"/>
          </a:xfrm>
        </p:spPr>
        <p:txBody>
          <a:bodyPr/>
          <a:lstStyle/>
          <a:p>
            <a:r>
              <a:rPr lang="en-US" dirty="0"/>
              <a:t>Project 2 </a:t>
            </a:r>
            <a:r>
              <a:rPr lang="en-US" altLang="zh-CN" dirty="0"/>
              <a:t>First-Order Stats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18894"/>
            <a:ext cx="8236085" cy="5339106"/>
          </a:xfrm>
        </p:spPr>
        <p:txBody>
          <a:bodyPr/>
          <a:lstStyle/>
          <a:p>
            <a:r>
              <a:rPr lang="en-US" altLang="zh-CN" sz="2800" dirty="0"/>
              <a:t>Use the data of lab7, real brain tumor MRI data.</a:t>
            </a:r>
            <a:endParaRPr lang="en-US" altLang="zh-CN" sz="2400" dirty="0"/>
          </a:p>
          <a:p>
            <a:pPr lvl="1"/>
            <a:r>
              <a:rPr lang="en-US" altLang="zh-CN" sz="2400" dirty="0"/>
              <a:t>Find the Center of mass of the tumor to get ROI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Implement</a:t>
            </a:r>
            <a:r>
              <a:rPr lang="en-US" altLang="zh-CN" sz="2400" dirty="0"/>
              <a:t> first-order histogram </a:t>
            </a:r>
            <a:r>
              <a:rPr lang="en-US" altLang="zh-CN" sz="2400"/>
              <a:t>features calculation</a:t>
            </a:r>
            <a:r>
              <a:rPr lang="en-US" altLang="zh-CN" sz="2400" dirty="0"/>
              <a:t>: </a:t>
            </a:r>
            <a:r>
              <a:rPr lang="en-US" altLang="zh-CN" sz="2000" dirty="0"/>
              <a:t>Mean, Variance, Uniformity, and Entropy</a:t>
            </a:r>
            <a:r>
              <a:rPr lang="en-US" altLang="zh-CN" sz="2400" dirty="0"/>
              <a:t>.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Implement </a:t>
            </a:r>
            <a:r>
              <a:rPr lang="en-US" altLang="zh-CN" sz="2400" dirty="0"/>
              <a:t>an</a:t>
            </a:r>
            <a:r>
              <a:rPr lang="zh-CN" altLang="zh-CN" sz="2400" dirty="0"/>
              <a:t> iterative </a:t>
            </a:r>
            <a:r>
              <a:rPr lang="en-US" altLang="zh-CN" sz="2400" dirty="0">
                <a:ea typeface="Google Sans Text"/>
              </a:rPr>
              <a:t>3*3 </a:t>
            </a:r>
            <a:r>
              <a:rPr lang="zh-CN" altLang="zh-CN" sz="2400" dirty="0"/>
              <a:t>mean filter to simulate an </a:t>
            </a:r>
            <a:r>
              <a:rPr lang="en-US" altLang="zh-CN" sz="2400" dirty="0"/>
              <a:t>asymptotic Gaussian blurring</a:t>
            </a:r>
            <a:r>
              <a:rPr lang="zh-CN" altLang="zh-CN" sz="2400" dirty="0"/>
              <a:t>.</a:t>
            </a:r>
            <a:endParaRPr lang="en-US" altLang="zh-CN" sz="2400" dirty="0"/>
          </a:p>
          <a:p>
            <a:pPr lvl="1"/>
            <a:r>
              <a:rPr lang="en-US" altLang="zh-CN" sz="2400" dirty="0"/>
              <a:t>Record the dynamic changes of statistical metrics during iterations.</a:t>
            </a:r>
          </a:p>
          <a:p>
            <a:pPr marL="400050"/>
            <a:r>
              <a:rPr lang="en-US" altLang="zh-CN" dirty="0"/>
              <a:t>Discuss</a:t>
            </a:r>
          </a:p>
          <a:p>
            <a:pPr marL="800100" lvl="1"/>
            <a:r>
              <a:rPr lang="en-US" altLang="zh-CN" sz="2400" dirty="0"/>
              <a:t>The dynamic changes of statistical metrics</a:t>
            </a:r>
            <a:r>
              <a:rPr lang="zh-CN" altLang="zh-CN" sz="2400" dirty="0"/>
              <a:t>.</a:t>
            </a:r>
            <a:endParaRPr lang="en-US" altLang="zh-CN" sz="2400" dirty="0"/>
          </a:p>
          <a:p>
            <a:pPr marL="800100" lvl="1"/>
            <a:r>
              <a:rPr lang="en-US" altLang="zh-CN" sz="2400" dirty="0"/>
              <a:t>Try repeating this process on the entire image instead of the ROI. (Optional)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D387484-CB5A-BD34-439B-3569FD04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685" y="4354136"/>
            <a:ext cx="2829320" cy="19301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A82FA91-CF65-0B19-EFC3-5E2022156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685" y="1543869"/>
            <a:ext cx="2829320" cy="28102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70" y="730673"/>
            <a:ext cx="11861260" cy="1430157"/>
          </a:xfrm>
        </p:spPr>
        <p:txBody>
          <a:bodyPr/>
          <a:lstStyle/>
          <a:p>
            <a:r>
              <a:rPr lang="en-US" dirty="0"/>
              <a:t>Project 3 </a:t>
            </a:r>
            <a:r>
              <a:rPr lang="en-US" altLang="zh-CN" dirty="0"/>
              <a:t>Texture Feature &amp; GLCM Analysis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385" y="1992765"/>
            <a:ext cx="7941137" cy="38887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/>
              <a:t>• Use the data of lab7, quantized real tumor ROI.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Call</a:t>
            </a:r>
            <a:r>
              <a:rPr lang="en-US" altLang="zh-CN" sz="2400" dirty="0"/>
              <a:t> functions to</a:t>
            </a:r>
            <a:r>
              <a:rPr lang="zh-CN" altLang="en-US" sz="2400" dirty="0"/>
              <a:t> </a:t>
            </a:r>
            <a:r>
              <a:rPr lang="en-US" altLang="zh-CN" sz="2400" dirty="0"/>
              <a:t>get</a:t>
            </a:r>
            <a:r>
              <a:rPr lang="zh-CN" altLang="en-US" sz="2400" dirty="0"/>
              <a:t> </a:t>
            </a:r>
            <a:r>
              <a:rPr lang="en-US" altLang="zh-CN" sz="2400" dirty="0"/>
              <a:t>second-order stats.</a:t>
            </a:r>
          </a:p>
          <a:p>
            <a:pPr lvl="1"/>
            <a:r>
              <a:rPr lang="en-US" altLang="zh-CN" sz="2400" dirty="0"/>
              <a:t>Compute the Gray-Level Co-occurrence Matrix (GLCM) based on specific spatial relationships.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400050"/>
            <a:r>
              <a:rPr lang="en-US" altLang="zh-CN" dirty="0"/>
              <a:t>Discuss</a:t>
            </a:r>
          </a:p>
          <a:p>
            <a:pPr marL="800100" lvl="1"/>
            <a:r>
              <a:rPr lang="zh-CN" altLang="zh-CN" sz="2400" dirty="0"/>
              <a:t>How the sampling step size interacts with periodic structural textures.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166538-FBF0-857D-9C49-D9822E6DD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042" y="2160830"/>
            <a:ext cx="2829320" cy="19301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4A8BFD-A1A1-4FEB-211C-CA8804F80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522" y="4090954"/>
            <a:ext cx="2829839" cy="1634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P-2E-book-presentations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B2B2B2"/>
      </a:folHlink>
    </a:clrScheme>
    <a:fontScheme name="DIP-2E-book-presentations-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DIP-2E-book-presentation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Office\Templates\DIP-2E-book-presentations-template.pot</Template>
  <TotalTime>270</TotalTime>
  <Words>190</Words>
  <Application>Microsoft Office PowerPoint</Application>
  <PresentationFormat>宽屏</PresentationFormat>
  <Paragraphs>24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Google Sans Text</vt:lpstr>
      <vt:lpstr>Arial</vt:lpstr>
      <vt:lpstr>Book Antiqua</vt:lpstr>
      <vt:lpstr>Times New Roman</vt:lpstr>
      <vt:lpstr>Verdana</vt:lpstr>
      <vt:lpstr>DIP-2E-book-presentations-template</vt:lpstr>
      <vt:lpstr>Project 1 Shape Feature &amp; Fourier Descriptors</vt:lpstr>
      <vt:lpstr>Project 2 First-Order Stats</vt:lpstr>
      <vt:lpstr>Project 3 Texture Feature &amp; GLCM Analysis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dhl</dc:creator>
  <cp:lastModifiedBy>Zhenyu Zhang</cp:lastModifiedBy>
  <cp:revision>170</cp:revision>
  <dcterms:created xsi:type="dcterms:W3CDTF">2001-12-06T17:51:00Z</dcterms:created>
  <dcterms:modified xsi:type="dcterms:W3CDTF">2026-06-01T09:09:27Z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C87397C0531141D383919E87BE7C38B9_13</vt:lpwstr>
  </property>
  <property fmtid="{D5CDD505-2E9C-101B-9397-08002B2CF9AE}" pid="3" name="KSOProductBuildVer">
    <vt:lpwstr>2052-12.1.0.23542</vt:lpwstr>
  </property>
</Properties>
</file>