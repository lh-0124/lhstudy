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0" r:id="rId1"/>
  </p:sldMasterIdLst>
  <p:notesMasterIdLst>
    <p:notesMasterId r:id="rId13"/>
  </p:notesMasterIdLst>
  <p:sldIdLst>
    <p:sldId id="281" r:id="rId2"/>
    <p:sldId id="256" r:id="rId3"/>
    <p:sldId id="502" r:id="rId4"/>
    <p:sldId id="1385" r:id="rId5"/>
    <p:sldId id="1386" r:id="rId6"/>
    <p:sldId id="353" r:id="rId7"/>
    <p:sldId id="282" r:id="rId8"/>
    <p:sldId id="283" r:id="rId9"/>
    <p:sldId id="284" r:id="rId10"/>
    <p:sldId id="285" r:id="rId11"/>
    <p:sldId id="348" r:id="rId12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华文中宋" panose="0201060004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297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3F8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28" autoAdjust="0"/>
    <p:restoredTop sz="95506" autoAdjust="0"/>
  </p:normalViewPr>
  <p:slideViewPr>
    <p:cSldViewPr snapToGrid="0">
      <p:cViewPr varScale="1">
        <p:scale>
          <a:sx n="116" d="100"/>
          <a:sy n="116" d="100"/>
        </p:scale>
        <p:origin x="422" y="86"/>
      </p:cViewPr>
      <p:guideLst>
        <p:guide orient="horz" pos="4297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 Zhao" userId="a4240c5aec3b883a" providerId="LiveId" clId="{62674099-E8B8-6548-8BED-6F0AED246363}"/>
    <pc:docChg chg="custSel addSld modSld modMainMaster">
      <pc:chgData name="Li Zhao" userId="a4240c5aec3b883a" providerId="LiveId" clId="{62674099-E8B8-6548-8BED-6F0AED246363}" dt="2024-03-14T01:22:49.641" v="136"/>
      <pc:docMkLst>
        <pc:docMk/>
      </pc:docMkLst>
      <pc:sldChg chg="modTransition">
        <pc:chgData name="Li Zhao" userId="a4240c5aec3b883a" providerId="LiveId" clId="{62674099-E8B8-6548-8BED-6F0AED246363}" dt="2024-03-14T01:22:49.641" v="136"/>
        <pc:sldMkLst>
          <pc:docMk/>
          <pc:sldMk cId="0" sldId="281"/>
        </pc:sldMkLst>
      </pc:sldChg>
      <pc:sldChg chg="modTransition">
        <pc:chgData name="Li Zhao" userId="a4240c5aec3b883a" providerId="LiveId" clId="{62674099-E8B8-6548-8BED-6F0AED246363}" dt="2024-03-14T01:22:49.641" v="136"/>
        <pc:sldMkLst>
          <pc:docMk/>
          <pc:sldMk cId="2102262189" sldId="282"/>
        </pc:sldMkLst>
      </pc:sldChg>
      <pc:sldChg chg="modSp mod modTransition">
        <pc:chgData name="Li Zhao" userId="a4240c5aec3b883a" providerId="LiveId" clId="{62674099-E8B8-6548-8BED-6F0AED246363}" dt="2024-03-14T01:22:49.641" v="136"/>
        <pc:sldMkLst>
          <pc:docMk/>
          <pc:sldMk cId="1423439410" sldId="283"/>
        </pc:sldMkLst>
        <pc:spChg chg="mod">
          <ac:chgData name="Li Zhao" userId="a4240c5aec3b883a" providerId="LiveId" clId="{62674099-E8B8-6548-8BED-6F0AED246363}" dt="2024-03-07T11:38:32.695" v="126" actId="21"/>
          <ac:spMkLst>
            <pc:docMk/>
            <pc:sldMk cId="1423439410" sldId="283"/>
            <ac:spMk id="3" creationId="{68536628-D6A4-1A22-35F9-FC14F6566217}"/>
          </ac:spMkLst>
        </pc:spChg>
      </pc:sldChg>
      <pc:sldChg chg="modTransition">
        <pc:chgData name="Li Zhao" userId="a4240c5aec3b883a" providerId="LiveId" clId="{62674099-E8B8-6548-8BED-6F0AED246363}" dt="2024-03-14T01:22:49.641" v="136"/>
        <pc:sldMkLst>
          <pc:docMk/>
          <pc:sldMk cId="2651436441" sldId="284"/>
        </pc:sldMkLst>
      </pc:sldChg>
      <pc:sldChg chg="modTransition">
        <pc:chgData name="Li Zhao" userId="a4240c5aec3b883a" providerId="LiveId" clId="{62674099-E8B8-6548-8BED-6F0AED246363}" dt="2024-03-14T01:22:49.641" v="136"/>
        <pc:sldMkLst>
          <pc:docMk/>
          <pc:sldMk cId="1475515605" sldId="285"/>
        </pc:sldMkLst>
      </pc:sldChg>
      <pc:sldChg chg="delSp add modTransition modAnim">
        <pc:chgData name="Li Zhao" userId="a4240c5aec3b883a" providerId="LiveId" clId="{62674099-E8B8-6548-8BED-6F0AED246363}" dt="2024-03-14T01:22:49.641" v="136"/>
        <pc:sldMkLst>
          <pc:docMk/>
          <pc:sldMk cId="3535800596" sldId="348"/>
        </pc:sldMkLst>
        <pc:picChg chg="del">
          <ac:chgData name="Li Zhao" userId="a4240c5aec3b883a" providerId="LiveId" clId="{62674099-E8B8-6548-8BED-6F0AED246363}" dt="2024-03-14T01:22:49.641" v="136"/>
          <ac:picMkLst>
            <pc:docMk/>
            <pc:sldMk cId="3535800596" sldId="348"/>
            <ac:picMk id="4" creationId="{FECE9EAF-02A0-824C-3E42-826CDC20EC0B}"/>
          </ac:picMkLst>
        </pc:picChg>
      </pc:sldChg>
      <pc:sldChg chg="delSp add modTransition modAnim">
        <pc:chgData name="Li Zhao" userId="a4240c5aec3b883a" providerId="LiveId" clId="{62674099-E8B8-6548-8BED-6F0AED246363}" dt="2024-03-14T01:22:49.641" v="136"/>
        <pc:sldMkLst>
          <pc:docMk/>
          <pc:sldMk cId="4245854307" sldId="349"/>
        </pc:sldMkLst>
        <pc:picChg chg="del">
          <ac:chgData name="Li Zhao" userId="a4240c5aec3b883a" providerId="LiveId" clId="{62674099-E8B8-6548-8BED-6F0AED246363}" dt="2024-03-14T01:22:49.641" v="136"/>
          <ac:picMkLst>
            <pc:docMk/>
            <pc:sldMk cId="4245854307" sldId="349"/>
            <ac:picMk id="6" creationId="{20DED705-711D-34FC-1996-6A668B6649E9}"/>
          </ac:picMkLst>
        </pc:picChg>
      </pc:sldChg>
      <pc:sldChg chg="delSp add modTransition modAnim">
        <pc:chgData name="Li Zhao" userId="a4240c5aec3b883a" providerId="LiveId" clId="{62674099-E8B8-6548-8BED-6F0AED246363}" dt="2024-03-14T01:22:49.641" v="136"/>
        <pc:sldMkLst>
          <pc:docMk/>
          <pc:sldMk cId="2856553623" sldId="350"/>
        </pc:sldMkLst>
        <pc:picChg chg="del">
          <ac:chgData name="Li Zhao" userId="a4240c5aec3b883a" providerId="LiveId" clId="{62674099-E8B8-6548-8BED-6F0AED246363}" dt="2024-03-14T01:22:49.641" v="136"/>
          <ac:picMkLst>
            <pc:docMk/>
            <pc:sldMk cId="2856553623" sldId="350"/>
            <ac:picMk id="6" creationId="{2093EF45-3016-1388-4F14-989537277ED8}"/>
          </ac:picMkLst>
        </pc:picChg>
      </pc:sldChg>
      <pc:sldChg chg="delSp add modTransition modAnim">
        <pc:chgData name="Li Zhao" userId="a4240c5aec3b883a" providerId="LiveId" clId="{62674099-E8B8-6548-8BED-6F0AED246363}" dt="2024-03-14T01:22:49.641" v="136"/>
        <pc:sldMkLst>
          <pc:docMk/>
          <pc:sldMk cId="3329726156" sldId="351"/>
        </pc:sldMkLst>
        <pc:picChg chg="del">
          <ac:chgData name="Li Zhao" userId="a4240c5aec3b883a" providerId="LiveId" clId="{62674099-E8B8-6548-8BED-6F0AED246363}" dt="2024-03-14T01:22:49.641" v="136"/>
          <ac:picMkLst>
            <pc:docMk/>
            <pc:sldMk cId="3329726156" sldId="351"/>
            <ac:picMk id="7" creationId="{9FBD7C4D-EE9F-3D1F-DF15-3C2570366C48}"/>
          </ac:picMkLst>
        </pc:picChg>
      </pc:sldChg>
      <pc:sldChg chg="modTransition">
        <pc:chgData name="Li Zhao" userId="a4240c5aec3b883a" providerId="LiveId" clId="{62674099-E8B8-6548-8BED-6F0AED246363}" dt="2024-03-14T01:22:49.641" v="136"/>
        <pc:sldMkLst>
          <pc:docMk/>
          <pc:sldMk cId="3007992848" sldId="352"/>
        </pc:sldMkLst>
      </pc:sldChg>
      <pc:sldChg chg="modSp new mod modTransition">
        <pc:chgData name="Li Zhao" userId="a4240c5aec3b883a" providerId="LiveId" clId="{62674099-E8B8-6548-8BED-6F0AED246363}" dt="2024-03-14T01:22:49.641" v="136"/>
        <pc:sldMkLst>
          <pc:docMk/>
          <pc:sldMk cId="1677057870" sldId="353"/>
        </pc:sldMkLst>
        <pc:spChg chg="mod">
          <ac:chgData name="Li Zhao" userId="a4240c5aec3b883a" providerId="LiveId" clId="{62674099-E8B8-6548-8BED-6F0AED246363}" dt="2024-03-07T11:36:07.168" v="44" actId="20577"/>
          <ac:spMkLst>
            <pc:docMk/>
            <pc:sldMk cId="1677057870" sldId="353"/>
            <ac:spMk id="2" creationId="{E7A12F4A-48B3-A5CF-D7B4-BF78E1FB8432}"/>
          </ac:spMkLst>
        </pc:spChg>
        <pc:spChg chg="mod">
          <ac:chgData name="Li Zhao" userId="a4240c5aec3b883a" providerId="LiveId" clId="{62674099-E8B8-6548-8BED-6F0AED246363}" dt="2024-03-07T11:36:52.154" v="65" actId="20577"/>
          <ac:spMkLst>
            <pc:docMk/>
            <pc:sldMk cId="1677057870" sldId="353"/>
            <ac:spMk id="3" creationId="{653009C2-4A14-BDA1-735E-9BC65E8EF346}"/>
          </ac:spMkLst>
        </pc:spChg>
      </pc:sldChg>
      <pc:sldChg chg="delSp add modTransition modAnim">
        <pc:chgData name="Li Zhao" userId="a4240c5aec3b883a" providerId="LiveId" clId="{62674099-E8B8-6548-8BED-6F0AED246363}" dt="2024-03-14T01:22:49.641" v="136"/>
        <pc:sldMkLst>
          <pc:docMk/>
          <pc:sldMk cId="1036101036" sldId="354"/>
        </pc:sldMkLst>
        <pc:picChg chg="del">
          <ac:chgData name="Li Zhao" userId="a4240c5aec3b883a" providerId="LiveId" clId="{62674099-E8B8-6548-8BED-6F0AED246363}" dt="2024-03-14T01:22:49.641" v="136"/>
          <ac:picMkLst>
            <pc:docMk/>
            <pc:sldMk cId="1036101036" sldId="354"/>
            <ac:picMk id="6" creationId="{852BBA02-3817-19C8-B8A1-FAF163230A3B}"/>
          </ac:picMkLst>
        </pc:picChg>
      </pc:sldChg>
      <pc:sldMasterChg chg="modSp mod">
        <pc:chgData name="Li Zhao" userId="a4240c5aec3b883a" providerId="LiveId" clId="{62674099-E8B8-6548-8BED-6F0AED246363}" dt="2024-03-14T00:33:21.846" v="135" actId="20577"/>
        <pc:sldMasterMkLst>
          <pc:docMk/>
          <pc:sldMasterMk cId="0" sldId="2147483650"/>
        </pc:sldMasterMkLst>
        <pc:spChg chg="mod">
          <ac:chgData name="Li Zhao" userId="a4240c5aec3b883a" providerId="LiveId" clId="{62674099-E8B8-6548-8BED-6F0AED246363}" dt="2024-03-14T00:33:21.846" v="135" actId="20577"/>
          <ac:spMkLst>
            <pc:docMk/>
            <pc:sldMasterMk cId="0" sldId="2147483650"/>
            <ac:spMk id="1027" creationId="{46E5620F-478F-45CC-89C6-2D88B132D24C}"/>
          </ac:spMkLst>
        </pc:sp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52432D8-6310-40E4-9689-1294CC2511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5" name="Rectangle 3">
            <a:extLst>
              <a:ext uri="{FF2B5EF4-FFF2-40B4-BE49-F238E27FC236}">
                <a16:creationId xmlns:a16="http://schemas.microsoft.com/office/drawing/2014/main" id="{1F383599-A2F8-4E1F-BB26-8715EB0F34FF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F650A7EE-C83E-94DF-1B8D-53BA1A5333D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81000" y="685800"/>
            <a:ext cx="6096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7" name="Rectangle 5">
            <a:extLst>
              <a:ext uri="{FF2B5EF4-FFF2-40B4-BE49-F238E27FC236}">
                <a16:creationId xmlns:a16="http://schemas.microsoft.com/office/drawing/2014/main" id="{6402BF12-75A7-408F-89D6-09E8FBC718C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/>
              <a:t>Click to edit Master text styles</a:t>
            </a:r>
          </a:p>
          <a:p>
            <a:pPr lvl="1"/>
            <a:r>
              <a:rPr lang="en-US" altLang="zh-CN" noProof="0"/>
              <a:t>Second level</a:t>
            </a:r>
          </a:p>
          <a:p>
            <a:pPr lvl="2"/>
            <a:r>
              <a:rPr lang="en-US" altLang="zh-CN" noProof="0"/>
              <a:t>Third level</a:t>
            </a:r>
          </a:p>
          <a:p>
            <a:pPr lvl="3"/>
            <a:r>
              <a:rPr lang="en-US" altLang="zh-CN" noProof="0"/>
              <a:t>Fourth level</a:t>
            </a:r>
          </a:p>
          <a:p>
            <a:pPr lvl="4"/>
            <a:r>
              <a:rPr lang="en-US" altLang="zh-CN" noProof="0"/>
              <a:t>Fifth level</a:t>
            </a:r>
          </a:p>
        </p:txBody>
      </p:sp>
      <p:sp>
        <p:nvSpPr>
          <p:cNvPr id="28678" name="Rectangle 6">
            <a:extLst>
              <a:ext uri="{FF2B5EF4-FFF2-40B4-BE49-F238E27FC236}">
                <a16:creationId xmlns:a16="http://schemas.microsoft.com/office/drawing/2014/main" id="{34BFED21-C4B4-444F-8444-5E39BE57510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ea typeface="宋体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8679" name="Rectangle 7">
            <a:extLst>
              <a:ext uri="{FF2B5EF4-FFF2-40B4-BE49-F238E27FC236}">
                <a16:creationId xmlns:a16="http://schemas.microsoft.com/office/drawing/2014/main" id="{DBFD0366-0BEE-4C59-9DEF-4CD2D7AC2F8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ea typeface="宋体" panose="02010600030101010101" pitchFamily="2" charset="-122"/>
              </a:defRPr>
            </a:lvl1pPr>
          </a:lstStyle>
          <a:p>
            <a:fld id="{3EE5025C-D339-CA44-A36B-8E7331354280}" type="slidenum">
              <a:rPr lang="zh-CN" altLang="en-US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6426701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573741"/>
            <a:ext cx="10972800" cy="717178"/>
          </a:xfrm>
          <a:prstGeom prst="rect">
            <a:avLst/>
          </a:prstGeom>
        </p:spPr>
        <p:txBody>
          <a:bodyPr/>
          <a:lstStyle>
            <a:lvl1pPr>
              <a:defRPr sz="40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09600" y="1600201"/>
            <a:ext cx="10972800" cy="4742328"/>
          </a:xfrm>
          <a:prstGeom prst="rect">
            <a:avLst/>
          </a:prstGeom>
        </p:spPr>
        <p:txBody>
          <a:bodyPr/>
          <a:lstStyle>
            <a:lvl1pPr>
              <a:defRPr>
                <a:latin typeface="Arial" panose="020B0604020202020204" pitchFamily="34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8574395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6115384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86352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37906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42147490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5001926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8384679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084723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87416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83274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Text Box 4">
            <a:extLst>
              <a:ext uri="{FF2B5EF4-FFF2-40B4-BE49-F238E27FC236}">
                <a16:creationId xmlns:a16="http://schemas.microsoft.com/office/drawing/2014/main" id="{46E5620F-478F-45CC-89C6-2D88B132D2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3663" y="55563"/>
            <a:ext cx="3530134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>
              <a:defRPr/>
            </a:pPr>
            <a:r>
              <a:rPr lang="en-US" altLang="zh-CN" sz="2000" b="1" i="1" dirty="0">
                <a:latin typeface="Book Antiqua" panose="02040602050305030304" pitchFamily="18" charset="0"/>
                <a:ea typeface="宋体" panose="02010600030101010101" pitchFamily="2" charset="-122"/>
              </a:rPr>
              <a:t>Biomedical Image Processing</a:t>
            </a:r>
            <a:endParaRPr lang="en-US" altLang="zh-CN" b="1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2" name="Line 6">
            <a:extLst>
              <a:ext uri="{FF2B5EF4-FFF2-40B4-BE49-F238E27FC236}">
                <a16:creationId xmlns:a16="http://schemas.microsoft.com/office/drawing/2014/main" id="{A5EC652B-F000-0EA2-251F-415C856D493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-258763" y="6858000"/>
            <a:ext cx="12450763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N"/>
          </a:p>
        </p:txBody>
      </p:sp>
      <p:sp>
        <p:nvSpPr>
          <p:cNvPr id="1028" name="Line 9">
            <a:extLst>
              <a:ext uri="{FF2B5EF4-FFF2-40B4-BE49-F238E27FC236}">
                <a16:creationId xmlns:a16="http://schemas.microsoft.com/office/drawing/2014/main" id="{D148B700-4942-888C-0D11-7D4AE6C877D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93663" y="549275"/>
            <a:ext cx="8321675" cy="0"/>
          </a:xfrm>
          <a:prstGeom prst="line">
            <a:avLst/>
          </a:prstGeom>
          <a:noFill/>
          <a:ln w="3175">
            <a:solidFill>
              <a:srgbClr val="B2B2B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CN"/>
          </a:p>
        </p:txBody>
      </p:sp>
      <p:pic>
        <p:nvPicPr>
          <p:cNvPr id="1029" name="图片 8">
            <a:extLst>
              <a:ext uri="{FF2B5EF4-FFF2-40B4-BE49-F238E27FC236}">
                <a16:creationId xmlns:a16="http://schemas.microsoft.com/office/drawing/2014/main" id="{1636003B-FE6C-0624-0D82-777DE0CF29E4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45500" y="23813"/>
            <a:ext cx="3684588" cy="542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jupyter.org/" TargetMode="External"/><Relationship Id="rId2" Type="http://schemas.openxmlformats.org/officeDocument/2006/relationships/hyperlink" Target="https://ww2.mathworks.cn/campaigns/offers/matlab-live-editor.html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de.visualstudio.com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gi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Text Box 1027">
            <a:extLst>
              <a:ext uri="{FF2B5EF4-FFF2-40B4-BE49-F238E27FC236}">
                <a16:creationId xmlns:a16="http://schemas.microsoft.com/office/drawing/2014/main" id="{7756A92C-A21B-F2FD-D0E8-1F5E158668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78175" y="3487738"/>
            <a:ext cx="5562600" cy="5245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algn="ctr">
              <a:lnSpc>
                <a:spcPct val="130000"/>
              </a:lnSpc>
            </a:pPr>
            <a:endParaRPr lang="zh-CN" altLang="en-US" dirty="0">
              <a:solidFill>
                <a:srgbClr val="000066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DE02CCD-DBAB-B799-AAE1-90810CC91F1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Lab </a:t>
            </a:r>
            <a:r>
              <a:rPr lang="en-US" altLang="zh-CN" dirty="0"/>
              <a:t>1</a:t>
            </a:r>
            <a:endParaRPr lang="en-C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A9B062-5418-3EA9-5FBF-489B1A49873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zh-CN" dirty="0"/>
              <a:t>Dan Wu</a:t>
            </a:r>
            <a:endParaRPr lang="zh-CN" altLang="en-US" dirty="0"/>
          </a:p>
          <a:p>
            <a:r>
              <a:rPr lang="en-US"/>
              <a:t>danwu.bme@</a:t>
            </a:r>
            <a:r>
              <a:rPr lang="en-US" dirty="0" err="1"/>
              <a:t>zju.edu.cn</a:t>
            </a:r>
            <a:endParaRPr lang="en-US" dirty="0"/>
          </a:p>
          <a:p>
            <a:endParaRPr lang="en-US" dirty="0"/>
          </a:p>
          <a:p>
            <a:endParaRPr lang="en-C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1752301-71A5-4BA9-E9D7-A0591748A2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实验报告</a:t>
            </a:r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5F81AC2-22AA-7649-01E9-8868851AD9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1) LAB1_</a:t>
            </a:r>
            <a:r>
              <a:rPr lang="zh-CN" alt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学号</a:t>
            </a: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_</a:t>
            </a:r>
            <a:r>
              <a:rPr lang="en-US" altLang="zh-CN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f</a:t>
            </a:r>
            <a:r>
              <a:rPr lang="en-US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inal.ipynb</a:t>
            </a:r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  (60%)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Your final code and results: </a:t>
            </a:r>
            <a:r>
              <a:rPr lang="en-CN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Jupter notebook</a:t>
            </a:r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+</a:t>
            </a:r>
            <a:r>
              <a:rPr lang="en-US" b="1" u="sng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disclosure</a:t>
            </a:r>
          </a:p>
          <a:p>
            <a:pPr lvl="1"/>
            <a:endParaRPr lang="en-CN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2) LAB1_</a:t>
            </a:r>
            <a:r>
              <a:rPr lang="zh-CN" alt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学号</a:t>
            </a: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_</a:t>
            </a:r>
            <a:r>
              <a:rPr lang="en-US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debug.ipynb</a:t>
            </a:r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  (</a:t>
            </a: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30%</a:t>
            </a:r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Your debug process and wrong results: Jupiter notebook </a:t>
            </a:r>
          </a:p>
          <a:p>
            <a:pPr lvl="1"/>
            <a:endParaRPr lang="en-US" dirty="0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  <a:p>
            <a:pPr marL="457200" lvl="1" indent="0">
              <a:buNone/>
            </a:pP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3) LAB1_</a:t>
            </a:r>
            <a:r>
              <a:rPr lang="zh-CN" alt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学号</a:t>
            </a: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_</a:t>
            </a:r>
            <a:r>
              <a:rPr lang="en-US" altLang="zh-CN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discuss</a:t>
            </a:r>
            <a:r>
              <a:rPr lang="en-US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.md</a:t>
            </a:r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  (</a:t>
            </a:r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10%</a:t>
            </a:r>
            <a:r>
              <a:rPr lang="en-US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)</a:t>
            </a:r>
          </a:p>
          <a:p>
            <a:pPr lvl="1"/>
            <a:r>
              <a:rPr lang="en-US" altLang="zh-CN" dirty="0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Your discussion record with LLM or AI tools: markdown</a:t>
            </a:r>
            <a:endParaRPr lang="en-CN" altLang="zh-CN">
              <a:latin typeface="Arial" panose="020B0604020202020204" pitchFamily="34" charset="0"/>
              <a:ea typeface="Microsoft YaHei UI" panose="020B0503020204020204" pitchFamily="34" charset="-122"/>
              <a:cs typeface="Arial" panose="020B0604020202020204" pitchFamily="34" charset="0"/>
            </a:endParaRPr>
          </a:p>
          <a:p>
            <a:endParaRPr lang="en-US" altLang="zh-CN" dirty="0">
              <a:latin typeface="Microsoft YaHei UI" panose="020B0503020204020204" pitchFamily="34" charset="-122"/>
              <a:ea typeface="Microsoft YaHei UI" panose="020B0503020204020204" pitchFamily="34" charset="-122"/>
            </a:endParaRPr>
          </a:p>
          <a:p>
            <a:r>
              <a:rPr lang="en-US" altLang="zh-CN" b="1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Due</a:t>
            </a:r>
            <a:r>
              <a:rPr lang="en-US" altLang="zh-CN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 next week, before the lecture 13:25</a:t>
            </a:r>
          </a:p>
          <a:p>
            <a:pPr lvl="1"/>
            <a:r>
              <a:rPr lang="en-US" altLang="zh-CN" b="1" u="sng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L</a:t>
            </a:r>
            <a:r>
              <a:rPr lang="en-CN" altLang="zh-CN" b="1" u="sng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ate submission -2</a:t>
            </a:r>
            <a:r>
              <a:rPr lang="en-US" altLang="zh-CN" b="1" u="sng" dirty="0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0</a:t>
            </a:r>
            <a:r>
              <a:rPr lang="en-CN" altLang="zh-CN" b="1" u="sng">
                <a:latin typeface="Microsoft YaHei UI" panose="020B0503020204020204" pitchFamily="34" charset="-122"/>
                <a:ea typeface="Microsoft YaHei UI" panose="020B0503020204020204" pitchFamily="34" charset="-122"/>
              </a:rPr>
              <a:t>%</a:t>
            </a:r>
            <a:endParaRPr lang="en-US" b="1" u="sng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28460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FF1B4-FF18-0988-35BD-E09EDECB0A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8440" y="681037"/>
            <a:ext cx="6228031" cy="1325563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Notebook</a:t>
            </a:r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E977A-8730-0D74-A19E-C374F7C4CC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242071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urpose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How it is related to the goal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tep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arameters</a:t>
            </a:r>
          </a:p>
          <a:p>
            <a:pPr lvl="1"/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If wrong, G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o back and check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esult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onclusion/Expectation  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en-CN" dirty="0">
                <a:latin typeface="Arial" panose="020B0604020202020204" pitchFamily="34" charset="0"/>
                <a:cs typeface="Arial" panose="020B0604020202020204" pitchFamily="34" charset="0"/>
              </a:rPr>
              <a:t>odo</a:t>
            </a:r>
          </a:p>
          <a:p>
            <a:endParaRPr lang="en-C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BD39B23-177C-1321-D7B8-8ECEAB31C0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6972" y="681037"/>
            <a:ext cx="6027059" cy="2659530"/>
          </a:xfrm>
          <a:prstGeom prst="rect">
            <a:avLst/>
          </a:prstGeom>
        </p:spPr>
      </p:pic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AE0104D-8112-AAB0-E205-2EE7D8811E7D}"/>
              </a:ext>
            </a:extLst>
          </p:cNvPr>
          <p:cNvSpPr/>
          <p:nvPr/>
        </p:nvSpPr>
        <p:spPr bwMode="auto">
          <a:xfrm>
            <a:off x="6213170" y="986833"/>
            <a:ext cx="5935133" cy="1515534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59F6373-45D3-B6CE-BA47-D869EEF11819}"/>
              </a:ext>
            </a:extLst>
          </p:cNvPr>
          <p:cNvSpPr/>
          <p:nvPr/>
        </p:nvSpPr>
        <p:spPr bwMode="auto">
          <a:xfrm>
            <a:off x="6182935" y="2659498"/>
            <a:ext cx="1672772" cy="211667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012F5D8C-5B27-F9A7-74ED-B96C96A41E53}"/>
              </a:ext>
            </a:extLst>
          </p:cNvPr>
          <p:cNvSpPr/>
          <p:nvPr/>
        </p:nvSpPr>
        <p:spPr bwMode="auto">
          <a:xfrm>
            <a:off x="6890506" y="3048465"/>
            <a:ext cx="330200" cy="211667"/>
          </a:xfrm>
          <a:prstGeom prst="roundRect">
            <a:avLst/>
          </a:prstGeom>
          <a:noFill/>
          <a:ln w="25400" cap="flat" cmpd="sng" algn="ctr">
            <a:solidFill>
              <a:srgbClr val="C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CN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ea typeface="华文中宋" pitchFamily="2" charset="-122"/>
            </a:endParaRPr>
          </a:p>
        </p:txBody>
      </p:sp>
      <p:pic>
        <p:nvPicPr>
          <p:cNvPr id="2050" name="Picture 2" descr="DJI Phantom, le test (part 1) - Helicomicro.com">
            <a:extLst>
              <a:ext uri="{FF2B5EF4-FFF2-40B4-BE49-F238E27FC236}">
                <a16:creationId xmlns:a16="http://schemas.microsoft.com/office/drawing/2014/main" id="{2DC07D77-1ED9-E799-CEC9-8B2525FC57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500" t="18414" r="19083" b="24547"/>
          <a:stretch/>
        </p:blipFill>
        <p:spPr bwMode="auto">
          <a:xfrm>
            <a:off x="6375351" y="3819460"/>
            <a:ext cx="3323273" cy="2090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170" name="Picture 2" descr="Notebooks — JupyterLab 4.5.0rc0 documentation">
            <a:extLst>
              <a:ext uri="{FF2B5EF4-FFF2-40B4-BE49-F238E27FC236}">
                <a16:creationId xmlns:a16="http://schemas.microsoft.com/office/drawing/2014/main" id="{6D0D078A-5CE3-A322-4901-9BF3757299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36971" y="3366642"/>
            <a:ext cx="6055029" cy="3405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28257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5F608-71ED-3A96-22FC-9F5E8E2520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73741"/>
            <a:ext cx="4328160" cy="717178"/>
          </a:xfrm>
        </p:spPr>
        <p:txBody>
          <a:bodyPr/>
          <a:lstStyle/>
          <a:p>
            <a:r>
              <a:rPr lang="en-US" dirty="0" err="1">
                <a:latin typeface="Arial" panose="020B0604020202020204" pitchFamily="34" charset="0"/>
                <a:ea typeface="Microsoft YaHei UI" panose="020B0503020204020204" pitchFamily="34" charset="-122"/>
                <a:cs typeface="Arial" panose="020B0604020202020204" pitchFamily="34" charset="0"/>
              </a:rPr>
              <a:t>debug.ipynb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625FB3D-8B05-E1BA-5B93-E0DBD87A6B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90732" cy="4351338"/>
          </a:xfrm>
        </p:spPr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not delete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Do not remove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Only run it 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selectively</a:t>
            </a:r>
          </a:p>
          <a:p>
            <a:endParaRPr lang="en-US" b="1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dirty="0">
                <a:solidFill>
                  <a:srgbClr val="C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</a:t>
            </a:r>
            <a:r>
              <a:rPr lang="en-US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to add comments on the bugs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FF2FC70-703A-4F5C-031A-34D35D1FEF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54641" y="0"/>
            <a:ext cx="6290576" cy="6858000"/>
          </a:xfrm>
          <a:prstGeom prst="rect">
            <a:avLst/>
          </a:prstGeom>
        </p:spPr>
      </p:pic>
      <p:sp>
        <p:nvSpPr>
          <p:cNvPr id="7" name="Right Arrow 6">
            <a:extLst>
              <a:ext uri="{FF2B5EF4-FFF2-40B4-BE49-F238E27FC236}">
                <a16:creationId xmlns:a16="http://schemas.microsoft.com/office/drawing/2014/main" id="{AA3011FD-E226-38AC-22A9-A309DF0890C8}"/>
              </a:ext>
            </a:extLst>
          </p:cNvPr>
          <p:cNvSpPr/>
          <p:nvPr/>
        </p:nvSpPr>
        <p:spPr>
          <a:xfrm>
            <a:off x="5015151" y="3940951"/>
            <a:ext cx="478980" cy="230654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0C5850-580B-E0A9-87D6-4483E36AB3B2}"/>
              </a:ext>
            </a:extLst>
          </p:cNvPr>
          <p:cNvSpPr txBox="1"/>
          <p:nvPr/>
        </p:nvSpPr>
        <p:spPr>
          <a:xfrm>
            <a:off x="3488380" y="3848439"/>
            <a:ext cx="192873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Comment:</a:t>
            </a:r>
          </a:p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I found the bug!</a:t>
            </a:r>
          </a:p>
        </p:txBody>
      </p:sp>
    </p:spTree>
    <p:extLst>
      <p:ext uri="{BB962C8B-B14F-4D97-AF65-F5344CB8AC3E}">
        <p14:creationId xmlns:p14="http://schemas.microsoft.com/office/powerpoint/2010/main" val="22914927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E0DC7A-B330-39F9-C27B-00B428F0F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Human and AI Interaction Level (HAIL)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4B56CB-99C1-8541-54A7-B67637B56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Level 0: AI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ask 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simple</a:t>
            </a:r>
            <a:r>
              <a: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lang="zh-CN" alt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single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questions to AI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Level 1: Discuss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ask 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 series of related questions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AI, or 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discuss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with AI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Level 2: Internalization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level 1, understand AI’s answers and can 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explain the AI answer to other human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Level 3: Copilot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based on Level 2, ask AI to 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revise / correct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human manuscript / code, with specific goals, and </a:t>
            </a: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confirm the result by human</a:t>
            </a:r>
          </a:p>
          <a:p>
            <a:pPr>
              <a:lnSpc>
                <a:spcPct val="100000"/>
              </a:lnSpc>
              <a:buFont typeface="Wingdings" pitchFamily="2" charset="2"/>
              <a:buChar char="ü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Level 4: Human</a:t>
            </a:r>
          </a:p>
          <a:p>
            <a:pPr lvl="1">
              <a:lnSpc>
                <a:spcPct val="100000"/>
              </a:lnSpc>
              <a:buFont typeface="Wingdings" pitchFamily="2" charset="2"/>
              <a:buChar char="ü"/>
            </a:pPr>
            <a:r>
              <a:rPr lang="en-US" b="1" dirty="0">
                <a:solidFill>
                  <a:srgbClr val="00B0F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human statement</a:t>
            </a:r>
          </a:p>
        </p:txBody>
      </p:sp>
    </p:spTree>
    <p:extLst>
      <p:ext uri="{BB962C8B-B14F-4D97-AF65-F5344CB8AC3E}">
        <p14:creationId xmlns:p14="http://schemas.microsoft.com/office/powerpoint/2010/main" val="25719489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2F4A-48B3-A5CF-D7B4-BF78E1FB8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IDE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3009C2-4A14-BDA1-735E-9BC65E8EF3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Matlab live editor</a:t>
            </a:r>
            <a:endParaRPr lang="en-US" dirty="0">
              <a:hlinkClick r:id="rId2"/>
            </a:endParaRPr>
          </a:p>
          <a:p>
            <a:pPr lvl="1"/>
            <a:r>
              <a:rPr lang="en-US" dirty="0">
                <a:hlinkClick r:id="rId2"/>
              </a:rPr>
              <a:t>https://ww2.mathworks.cn/campaigns/offers/matlab-live-editor.html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 err="1"/>
              <a:t>Jupyter</a:t>
            </a:r>
            <a:r>
              <a:rPr lang="en-US" dirty="0"/>
              <a:t> notebook</a:t>
            </a:r>
          </a:p>
          <a:p>
            <a:pPr lvl="1"/>
            <a:r>
              <a:rPr lang="en-US" dirty="0">
                <a:hlinkClick r:id="rId3"/>
              </a:rPr>
              <a:t>https://jupyter.org/</a:t>
            </a:r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VS code</a:t>
            </a:r>
          </a:p>
          <a:p>
            <a:pPr lvl="1"/>
            <a:r>
              <a:rPr lang="en-US" dirty="0">
                <a:hlinkClick r:id="rId4"/>
              </a:rPr>
              <a:t>https://code.visualstudio.com/</a:t>
            </a:r>
            <a:endParaRPr lang="en-US" dirty="0"/>
          </a:p>
          <a:p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6770578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DB5B-3BF1-6451-9B2B-4C93B039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1 </a:t>
            </a:r>
            <a:r>
              <a:rPr lang="en-US" dirty="0"/>
              <a:t>G</a:t>
            </a:r>
            <a:r>
              <a:rPr lang="en-CN" dirty="0"/>
              <a:t>rey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536628-D6A4-1A22-35F9-FC14F65662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290919"/>
            <a:ext cx="10972800" cy="4742328"/>
          </a:xfrm>
        </p:spPr>
        <p:txBody>
          <a:bodyPr/>
          <a:lstStyle/>
          <a:p>
            <a:r>
              <a:rPr lang="en-US" dirty="0"/>
              <a:t>G</a:t>
            </a:r>
            <a:r>
              <a:rPr lang="en-CN" dirty="0"/>
              <a:t>enerate an image</a:t>
            </a:r>
          </a:p>
          <a:p>
            <a:pPr lvl="1"/>
            <a:r>
              <a:rPr lang="en-US" sz="2400" dirty="0"/>
              <a:t>G</a:t>
            </a:r>
            <a:r>
              <a:rPr lang="en-CN" sz="2400" dirty="0"/>
              <a:t>enerate a 256x256 image</a:t>
            </a:r>
            <a:r>
              <a:rPr lang="en-US" sz="2400" dirty="0"/>
              <a:t> with gray level from 0 (left) to 255 (right)</a:t>
            </a:r>
          </a:p>
          <a:p>
            <a:pPr lvl="1"/>
            <a:endParaRPr lang="en-CN" altLang="zh-CN" dirty="0"/>
          </a:p>
          <a:p>
            <a:pPr lvl="1"/>
            <a:r>
              <a:rPr lang="en-US" altLang="zh-CN" sz="2400" dirty="0"/>
              <a:t>G</a:t>
            </a:r>
            <a:r>
              <a:rPr lang="en-CN" altLang="zh-CN" sz="2400" dirty="0"/>
              <a:t>enerate a 256x256 image</a:t>
            </a:r>
            <a:r>
              <a:rPr lang="en-US" altLang="zh-CN" sz="2400" dirty="0"/>
              <a:t> with gray level from 0 (left) to 255 (right) and each band being 16 pixels wide and increasing in value by a step of 16.</a:t>
            </a:r>
          </a:p>
          <a:p>
            <a:pPr lvl="2"/>
            <a:r>
              <a:rPr lang="en-US" altLang="zh-CN" dirty="0"/>
              <a:t>Observe the </a:t>
            </a:r>
            <a:r>
              <a:rPr lang="en-US" dirty="0"/>
              <a:t>Mach band effect</a:t>
            </a:r>
            <a:endParaRPr lang="en-CN" dirty="0"/>
          </a:p>
          <a:p>
            <a:pPr lvl="1"/>
            <a:endParaRPr lang="en-CN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522DAA9D-F129-4A45-BC84-EBE4B97142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62802" y="4170332"/>
            <a:ext cx="2590799" cy="258009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E49E225-E859-4496-BD48-C3ED50B0B5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38401" y="4170332"/>
            <a:ext cx="2590799" cy="25800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22621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3DB5B-3BF1-6451-9B2B-4C93B039F7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2 </a:t>
            </a:r>
            <a:r>
              <a:rPr lang="en-US" dirty="0"/>
              <a:t>G</a:t>
            </a:r>
            <a:r>
              <a:rPr lang="en-CN" dirty="0"/>
              <a:t>rey Image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36628-D6A4-1A22-35F9-FC14F656621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0031" y="1461396"/>
                <a:ext cx="8089900" cy="4742328"/>
              </a:xfrm>
            </p:spPr>
            <p:txBody>
              <a:bodyPr/>
              <a:lstStyle/>
              <a:p>
                <a:r>
                  <a:rPr lang="en-US" dirty="0"/>
                  <a:t>Intensity Levels</a:t>
                </a:r>
              </a:p>
              <a:p>
                <a:endParaRPr lang="en-US" dirty="0"/>
              </a:p>
              <a:p>
                <a:r>
                  <a:rPr lang="en-US" dirty="0"/>
                  <a:t>Read in the lab1.npy or lab1.mat</a:t>
                </a:r>
              </a:p>
              <a:p>
                <a:r>
                  <a:rPr lang="en-US" dirty="0"/>
                  <a:t>Write a program to reduce the grey scale level to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CN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 is the input parameter for the function</a:t>
                </a:r>
              </a:p>
              <a:p>
                <a:pPr lvl="1"/>
                <a:r>
                  <a:rPr lang="en-US" dirty="0"/>
                  <a:t>Display image with 256, 64 and 16 levels</a:t>
                </a:r>
                <a:endParaRPr lang="en-C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8536628-D6A4-1A22-35F9-FC14F656621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0031" y="1461396"/>
                <a:ext cx="8089900" cy="4742328"/>
              </a:xfrm>
              <a:blipFill>
                <a:blip r:embed="rId2"/>
                <a:stretch>
                  <a:fillRect l="-1733" t="-1671" r="-60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70F2F66C-F8B6-428D-98AA-3C69388361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9931" y="2056200"/>
            <a:ext cx="3335797" cy="3340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34394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:a16="http://schemas.microsoft.com/office/drawing/2014/main" id="{D637304C-F013-49BF-8ECD-42DC0A6EFE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8270" y="884217"/>
            <a:ext cx="3082890" cy="308714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BD131D99-A079-7E00-4445-6CA98C1A9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3 Gr</a:t>
            </a:r>
            <a:r>
              <a:rPr lang="en-US" dirty="0"/>
              <a:t>e</a:t>
            </a:r>
            <a:r>
              <a:rPr lang="en-CN" dirty="0"/>
              <a:t>y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CEC781-08C9-C94E-BA56-716B5010F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7378700" cy="4742328"/>
          </a:xfrm>
        </p:spPr>
        <p:txBody>
          <a:bodyPr/>
          <a:lstStyle/>
          <a:p>
            <a:r>
              <a:rPr lang="en-US" dirty="0"/>
              <a:t>Zooming and Shrinking Images</a:t>
            </a:r>
          </a:p>
          <a:p>
            <a:endParaRPr lang="en-US" dirty="0"/>
          </a:p>
          <a:p>
            <a:pPr lvl="1"/>
            <a:r>
              <a:rPr lang="en-US" dirty="0"/>
              <a:t>Plot a line through the image and compare the details for </a:t>
            </a:r>
          </a:p>
          <a:p>
            <a:pPr lvl="2"/>
            <a:r>
              <a:rPr lang="en-US" dirty="0"/>
              <a:t>Original image</a:t>
            </a:r>
          </a:p>
          <a:p>
            <a:pPr lvl="2"/>
            <a:r>
              <a:rPr lang="en-US" dirty="0"/>
              <a:t>Reduce the image size to 1/N</a:t>
            </a:r>
          </a:p>
          <a:p>
            <a:pPr lvl="2"/>
            <a:r>
              <a:rPr lang="en-US" dirty="0"/>
              <a:t>Increase the </a:t>
            </a:r>
            <a:r>
              <a:rPr lang="en-US" altLang="zh-CN" dirty="0"/>
              <a:t>reduced </a:t>
            </a:r>
            <a:r>
              <a:rPr lang="en-US" dirty="0"/>
              <a:t>image size to N</a:t>
            </a:r>
          </a:p>
          <a:p>
            <a:endParaRPr lang="en-US" dirty="0"/>
          </a:p>
          <a:p>
            <a:endParaRPr lang="en-CN" dirty="0"/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FBDB417E-4AF6-4852-9379-41050FA49728}"/>
              </a:ext>
            </a:extLst>
          </p:cNvPr>
          <p:cNvCxnSpPr>
            <a:cxnSpLocks/>
          </p:cNvCxnSpPr>
          <p:nvPr/>
        </p:nvCxnSpPr>
        <p:spPr bwMode="auto">
          <a:xfrm>
            <a:off x="9977120" y="884217"/>
            <a:ext cx="0" cy="3087148"/>
          </a:xfrm>
          <a:prstGeom prst="line">
            <a:avLst/>
          </a:prstGeom>
          <a:solidFill>
            <a:schemeClr val="accent1"/>
          </a:solidFill>
          <a:ln w="3810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5A03FBE1-37AF-4E22-9D00-7A1C0F73AD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3927" y="4136290"/>
            <a:ext cx="4527233" cy="2243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4364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0EE4A9-B6CF-D281-7788-F4CC5B6148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Project 4 Color Image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02C4B0-A65A-30D1-CCD6-B7FCB988B2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600201"/>
            <a:ext cx="6540500" cy="4742328"/>
          </a:xfrm>
        </p:spPr>
        <p:txBody>
          <a:bodyPr/>
          <a:lstStyle/>
          <a:p>
            <a:r>
              <a:rPr lang="en-US" dirty="0"/>
              <a:t>C</a:t>
            </a:r>
            <a:r>
              <a:rPr lang="en-CN" dirty="0"/>
              <a:t>olor overlay</a:t>
            </a:r>
          </a:p>
          <a:p>
            <a:endParaRPr lang="en-CN" dirty="0"/>
          </a:p>
          <a:p>
            <a:pPr lvl="1"/>
            <a:r>
              <a:rPr lang="en-US" dirty="0"/>
              <a:t>G</a:t>
            </a:r>
            <a:r>
              <a:rPr lang="en-CN" dirty="0"/>
              <a:t>enerate the mask by I&gt;threshold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P</a:t>
            </a:r>
            <a:r>
              <a:rPr lang="en-CN" dirty="0"/>
              <a:t>ut the mask in the red channel to generate a color overlay image 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9D2FFAE3-E305-4482-BDFD-CCECAB770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5040" y="1600201"/>
            <a:ext cx="4474164" cy="4468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55156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A1265-7B4D-BF15-B026-AFF43CC6C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N" dirty="0"/>
              <a:t>Lab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22AEAC-9D25-E23E-6B7B-E14C2B5B42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CN" dirty="0"/>
          </a:p>
        </p:txBody>
      </p:sp>
      <p:pic>
        <p:nvPicPr>
          <p:cNvPr id="1026" name="Picture 2" descr="Angry Typing GIF - Bruce Almighty Comedy Jim Carrey GIFs">
            <a:extLst>
              <a:ext uri="{FF2B5EF4-FFF2-40B4-BE49-F238E27FC236}">
                <a16:creationId xmlns:a16="http://schemas.microsoft.com/office/drawing/2014/main" id="{CDE8F1CD-8CF7-8878-824F-AFE88568BB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21000" y="2294467"/>
            <a:ext cx="6350000" cy="381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35800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2"/>
</p:tagLst>
</file>

<file path=ppt/theme/theme1.xml><?xml version="1.0" encoding="utf-8"?>
<a:theme xmlns:a="http://schemas.openxmlformats.org/drawingml/2006/main" name="DIP-2E-book-presentations-templat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660066"/>
      </a:hlink>
      <a:folHlink>
        <a:srgbClr val="B2B2B2"/>
      </a:folHlink>
    </a:clrScheme>
    <a:fontScheme name="DIP-2E-book-presentations-template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华文中宋" pitchFamily="2" charset="-122"/>
          </a:defRPr>
        </a:defPPr>
      </a:lstStyle>
    </a:lnDef>
  </a:objectDefaults>
  <a:extraClrSchemeLst>
    <a:extraClrScheme>
      <a:clrScheme name="DIP-2E-book-presentations-template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IP-2E-book-presentations-template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IP-2E-book-presentations-template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D:\Program Files\Microsoft Office\Templates\DIP-2E-book-presentations-template.pot</Template>
  <TotalTime>3904</TotalTime>
  <Words>475</Words>
  <Application>Microsoft Office PowerPoint</Application>
  <PresentationFormat>宽屏</PresentationFormat>
  <Paragraphs>81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1" baseType="lpstr">
      <vt:lpstr>Microsoft YaHei UI</vt:lpstr>
      <vt:lpstr>华文中宋</vt:lpstr>
      <vt:lpstr>宋体</vt:lpstr>
      <vt:lpstr>Arial</vt:lpstr>
      <vt:lpstr>Book Antiqua</vt:lpstr>
      <vt:lpstr>Cambria Math</vt:lpstr>
      <vt:lpstr>Times New Roman</vt:lpstr>
      <vt:lpstr>Verdana</vt:lpstr>
      <vt:lpstr>Wingdings</vt:lpstr>
      <vt:lpstr>DIP-2E-book-presentations-template</vt:lpstr>
      <vt:lpstr>Lab 1</vt:lpstr>
      <vt:lpstr>实验报告</vt:lpstr>
      <vt:lpstr>Notebook</vt:lpstr>
      <vt:lpstr>debug.ipynb</vt:lpstr>
      <vt:lpstr>Human and AI Interaction Level (HAIL)</vt:lpstr>
      <vt:lpstr>IDE</vt:lpstr>
      <vt:lpstr>Project 1 Grey Image</vt:lpstr>
      <vt:lpstr>Project 2 Grey Image</vt:lpstr>
      <vt:lpstr>Project 3 Grey Image</vt:lpstr>
      <vt:lpstr>Project 4 Color Image</vt:lpstr>
      <vt:lpstr>Lab 1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dhl</dc:creator>
  <cp:lastModifiedBy>Yongquan Huang</cp:lastModifiedBy>
  <cp:revision>148</cp:revision>
  <dcterms:created xsi:type="dcterms:W3CDTF">2001-12-06T17:51:11Z</dcterms:created>
  <dcterms:modified xsi:type="dcterms:W3CDTF">2026-03-11T01:27:38Z</dcterms:modified>
</cp:coreProperties>
</file>